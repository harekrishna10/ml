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BM Plex Sans Condensed" charset="1" panose="020B0506050203000203"/>
      <p:regular r:id="rId17"/>
    </p:embeddedFont>
    <p:embeddedFont>
      <p:font typeface="IBM Plex Sans" charset="1" panose="020B0503050203000203"/>
      <p:regular r:id="rId18"/>
    </p:embeddedFont>
    <p:embeddedFont>
      <p:font typeface="Montserrat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slide1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slide1.xml" Type="http://schemas.openxmlformats.org/officeDocument/2006/relationships/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.png" Type="http://schemas.openxmlformats.org/officeDocument/2006/relationships/image"/><Relationship Id="rId7" Target="../media/image11.svg" Type="http://schemas.openxmlformats.org/officeDocument/2006/relationships/image"/><Relationship Id="rId8" Target="slide1.xml" Type="http://schemas.openxmlformats.org/officeDocument/2006/relationships/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slide1.xml" Type="http://schemas.openxmlformats.org/officeDocument/2006/relationships/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8911" y="1985839"/>
            <a:ext cx="17913753" cy="2376630"/>
          </a:xfrm>
          <a:custGeom>
            <a:avLst/>
            <a:gdLst/>
            <a:ahLst/>
            <a:cxnLst/>
            <a:rect r="r" b="b" t="t" l="l"/>
            <a:pathLst>
              <a:path h="2376630" w="17913753">
                <a:moveTo>
                  <a:pt x="0" y="0"/>
                </a:moveTo>
                <a:lnTo>
                  <a:pt x="17913753" y="0"/>
                </a:lnTo>
                <a:lnTo>
                  <a:pt x="17913753" y="2376630"/>
                </a:lnTo>
                <a:lnTo>
                  <a:pt x="0" y="23766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" y="9950777"/>
            <a:ext cx="18309793" cy="348396"/>
          </a:xfrm>
          <a:custGeom>
            <a:avLst/>
            <a:gdLst/>
            <a:ahLst/>
            <a:cxnLst/>
            <a:rect r="r" b="b" t="t" l="l"/>
            <a:pathLst>
              <a:path h="348396" w="18309793">
                <a:moveTo>
                  <a:pt x="0" y="0"/>
                </a:moveTo>
                <a:lnTo>
                  <a:pt x="18309794" y="0"/>
                </a:lnTo>
                <a:lnTo>
                  <a:pt x="18309794" y="348396"/>
                </a:lnTo>
                <a:lnTo>
                  <a:pt x="0" y="348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06475" y="2276304"/>
            <a:ext cx="9686944" cy="152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3"/>
              </a:lnSpc>
            </a:pPr>
            <a:r>
              <a:rPr lang="en-US" sz="4558" spc="-2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Support Vector Machine (SVM)</a:t>
            </a:r>
          </a:p>
          <a:p>
            <a:pPr algn="ctr">
              <a:lnSpc>
                <a:spcPts val="4854"/>
              </a:lnSpc>
            </a:pP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How to find the best line that separates two classes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53639" y="4826308"/>
            <a:ext cx="2654694" cy="1202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4"/>
              </a:lnSpc>
            </a:pP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Ananda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Rimal</a:t>
            </a:r>
          </a:p>
          <a:p>
            <a:pPr algn="ctr">
              <a:lnSpc>
                <a:spcPts val="4431"/>
              </a:lnSpc>
            </a:pPr>
            <a:r>
              <a:rPr lang="en-US" sz="3166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AI</a:t>
            </a:r>
            <a:r>
              <a:rPr lang="en-US" sz="3166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66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Researcher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03694" y="6448682"/>
            <a:ext cx="3776567" cy="458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533" spc="-2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Machine</a:t>
            </a:r>
            <a:r>
              <a:rPr lang="en-US" sz="2533" spc="-2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33" spc="-2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Learning</a:t>
            </a:r>
            <a:r>
              <a:rPr lang="en-US" sz="2533" spc="-2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33" spc="-2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0500" y="9932479"/>
            <a:ext cx="1545212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06510" y="9932479"/>
            <a:ext cx="3035865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(Machine Learning Lecture)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86273" y="9932479"/>
            <a:ext cx="547849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 u="none">
                <a:solidFill>
                  <a:srgbClr val="0000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SVM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96863" y="9932479"/>
            <a:ext cx="610257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9803" cy="1113015"/>
            <a:chOff x="0" y="0"/>
            <a:chExt cx="24413070" cy="1484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3083" cy="1483995"/>
            </a:xfrm>
            <a:custGeom>
              <a:avLst/>
              <a:gdLst/>
              <a:ahLst/>
              <a:cxnLst/>
              <a:rect r="r" b="b" t="t" l="l"/>
              <a:pathLst>
                <a:path h="1483995" w="24413083">
                  <a:moveTo>
                    <a:pt x="0" y="0"/>
                  </a:moveTo>
                  <a:lnTo>
                    <a:pt x="0" y="1483995"/>
                  </a:lnTo>
                  <a:lnTo>
                    <a:pt x="24413083" y="1483995"/>
                  </a:lnTo>
                  <a:lnTo>
                    <a:pt x="24413083" y="0"/>
                  </a:lnTo>
                  <a:close/>
                </a:path>
              </a:pathLst>
            </a:custGeom>
            <a:solidFill>
              <a:srgbClr val="232A6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0357" y="2180025"/>
            <a:ext cx="18368839" cy="2503094"/>
            <a:chOff x="0" y="0"/>
            <a:chExt cx="24491785" cy="33374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91823" cy="3337433"/>
            </a:xfrm>
            <a:custGeom>
              <a:avLst/>
              <a:gdLst/>
              <a:ahLst/>
              <a:cxnLst/>
              <a:rect r="r" b="b" t="t" l="l"/>
              <a:pathLst>
                <a:path h="3337433" w="24491823">
                  <a:moveTo>
                    <a:pt x="0" y="0"/>
                  </a:moveTo>
                  <a:lnTo>
                    <a:pt x="24491823" y="0"/>
                  </a:lnTo>
                  <a:lnTo>
                    <a:pt x="24491823" y="3337433"/>
                  </a:lnTo>
                  <a:lnTo>
                    <a:pt x="0" y="3337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01" r="0" b="-40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729368"/>
            <a:ext cx="18732179" cy="807520"/>
            <a:chOff x="0" y="0"/>
            <a:chExt cx="24976239" cy="10766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976201" cy="1076706"/>
            </a:xfrm>
            <a:custGeom>
              <a:avLst/>
              <a:gdLst/>
              <a:ahLst/>
              <a:cxnLst/>
              <a:rect r="r" b="b" t="t" l="l"/>
              <a:pathLst>
                <a:path h="1076706" w="24976201">
                  <a:moveTo>
                    <a:pt x="0" y="0"/>
                  </a:moveTo>
                  <a:lnTo>
                    <a:pt x="24976201" y="0"/>
                  </a:lnTo>
                  <a:lnTo>
                    <a:pt x="24976201" y="1076706"/>
                  </a:lnTo>
                  <a:lnTo>
                    <a:pt x="0" y="1076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6" t="0" r="-46" b="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43329" y="122558"/>
            <a:ext cx="3547510" cy="87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3"/>
              </a:lnSpc>
            </a:pPr>
            <a:r>
              <a:rPr lang="en-US" sz="4558" spc="-2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What is SVM?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0398" y="2457945"/>
            <a:ext cx="17777879" cy="1772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7"/>
              </a:lnSpc>
            </a:pPr>
            <a:r>
              <a:rPr lang="en-US" sz="3798" spc="-1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Simple definition</a:t>
            </a:r>
          </a:p>
          <a:p>
            <a:pPr algn="l">
              <a:lnSpc>
                <a:spcPts val="4304"/>
              </a:lnSpc>
            </a:pP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SVM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supervised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machine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learning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algorithm.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We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give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labeled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two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classes,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 learns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best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boundary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that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separates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them.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This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boundary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called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hyperplane.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1213" y="5755538"/>
            <a:ext cx="16151752" cy="2655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4"/>
              </a:lnSpc>
            </a:pP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does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not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pick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just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any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boundary.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picks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safest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one,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which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stays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far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from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both classes.</a:t>
            </a:r>
          </a:p>
          <a:p>
            <a:pPr algn="l">
              <a:lnSpc>
                <a:spcPts val="7908"/>
              </a:lnSpc>
            </a:pP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works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very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well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when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has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many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features.</a:t>
            </a:r>
          </a:p>
          <a:p>
            <a:pPr algn="l">
              <a:lnSpc>
                <a:spcPts val="4304"/>
              </a:lnSpc>
            </a:pP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needs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only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few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special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points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make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its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decision,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so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model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small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fast.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0398" y="4973936"/>
            <a:ext cx="5039763" cy="667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3464" spc="-2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</a:t>
            </a:r>
            <a:r>
              <a:rPr lang="en-US" sz="3464" spc="-2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64" spc="-2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is</a:t>
            </a:r>
            <a:r>
              <a:rPr lang="en-US" sz="3464" spc="-2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64" spc="-2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SVM</a:t>
            </a:r>
            <a:r>
              <a:rPr lang="en-US" sz="3464" spc="-2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64" spc="-2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important?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8495" y="5615388"/>
            <a:ext cx="349406" cy="715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3464" spc="613">
                <a:solidFill>
                  <a:srgbClr val="232A6C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8495" y="6693265"/>
            <a:ext cx="349406" cy="173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09"/>
              </a:lnSpc>
            </a:pPr>
            <a:r>
              <a:rPr lang="en-US" sz="3464" spc="613">
                <a:solidFill>
                  <a:srgbClr val="232A6C"/>
                </a:solidFill>
                <a:latin typeface="Montserrat"/>
                <a:ea typeface="Montserrat"/>
                <a:cs typeface="Montserrat"/>
                <a:sym typeface="Montserrat"/>
              </a:rPr>
              <a:t>▶ ▶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0500" y="9932479"/>
            <a:ext cx="1545212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06510" y="9932479"/>
            <a:ext cx="3035865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(Machine Learning Lecture)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86273" y="9932479"/>
            <a:ext cx="547849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 u="sng">
                <a:solidFill>
                  <a:srgbClr val="0000FF"/>
                </a:solidFill>
                <a:latin typeface="IBM Plex Sans"/>
                <a:ea typeface="IBM Plex Sans"/>
                <a:cs typeface="IBM Plex Sans"/>
                <a:sym typeface="IBM Plex Sans"/>
                <a:hlinkClick r:id="rId4" action="ppaction://hlinksldjump"/>
              </a:rPr>
              <a:t>SVM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496863" y="9932479"/>
            <a:ext cx="610257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9803" cy="1113015"/>
            <a:chOff x="0" y="0"/>
            <a:chExt cx="24413070" cy="1484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3083" cy="1483995"/>
            </a:xfrm>
            <a:custGeom>
              <a:avLst/>
              <a:gdLst/>
              <a:ahLst/>
              <a:cxnLst/>
              <a:rect r="r" b="b" t="t" l="l"/>
              <a:pathLst>
                <a:path h="1483995" w="24413083">
                  <a:moveTo>
                    <a:pt x="0" y="0"/>
                  </a:moveTo>
                  <a:lnTo>
                    <a:pt x="0" y="1483995"/>
                  </a:lnTo>
                  <a:lnTo>
                    <a:pt x="24413083" y="1483995"/>
                  </a:lnTo>
                  <a:lnTo>
                    <a:pt x="24413083" y="0"/>
                  </a:lnTo>
                  <a:close/>
                </a:path>
              </a:pathLst>
            </a:custGeom>
            <a:solidFill>
              <a:srgbClr val="232A6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0" y="9950787"/>
            <a:ext cx="18309793" cy="348396"/>
          </a:xfrm>
          <a:custGeom>
            <a:avLst/>
            <a:gdLst/>
            <a:ahLst/>
            <a:cxnLst/>
            <a:rect r="r" b="b" t="t" l="l"/>
            <a:pathLst>
              <a:path h="348396" w="18309793">
                <a:moveTo>
                  <a:pt x="0" y="0"/>
                </a:moveTo>
                <a:lnTo>
                  <a:pt x="18309794" y="0"/>
                </a:lnTo>
                <a:lnTo>
                  <a:pt x="18309794" y="348395"/>
                </a:lnTo>
                <a:lnTo>
                  <a:pt x="0" y="3483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3329" y="122558"/>
            <a:ext cx="6612626" cy="87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3"/>
              </a:lnSpc>
            </a:pPr>
            <a:r>
              <a:rPr lang="en-US" sz="4558" spc="-2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Famous Real Life Examples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4125" y="2985211"/>
            <a:ext cx="349406" cy="715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3464" spc="613">
                <a:solidFill>
                  <a:srgbClr val="232A6C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4125" y="4536967"/>
            <a:ext cx="349406" cy="715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3464" spc="613">
                <a:solidFill>
                  <a:srgbClr val="232A6C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4125" y="6635667"/>
            <a:ext cx="349406" cy="715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3464" spc="613">
                <a:solidFill>
                  <a:srgbClr val="232A6C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36084" y="2985211"/>
            <a:ext cx="349406" cy="715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3464" spc="613">
                <a:solidFill>
                  <a:srgbClr val="232A6C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36084" y="4536967"/>
            <a:ext cx="349406" cy="715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3464" spc="613">
                <a:solidFill>
                  <a:srgbClr val="232A6C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6871" y="4671336"/>
            <a:ext cx="7092744" cy="320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4"/>
              </a:lnSpc>
            </a:pPr>
            <a:r>
              <a:rPr lang="en-US" sz="3464" spc="-2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Face</a:t>
            </a:r>
            <a:r>
              <a:rPr lang="en-US" sz="3464" spc="-2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64" spc="-2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detection</a:t>
            </a:r>
          </a:p>
          <a:p>
            <a:pPr algn="l">
              <a:lnSpc>
                <a:spcPts val="4304"/>
              </a:lnSpc>
            </a:pP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decides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if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image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region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face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 not</a:t>
            </a:r>
          </a:p>
          <a:p>
            <a:pPr algn="l">
              <a:lnSpc>
                <a:spcPts val="4304"/>
              </a:lnSpc>
            </a:pPr>
            <a:r>
              <a:rPr lang="en-US" sz="3464" spc="-2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Medical</a:t>
            </a:r>
            <a:r>
              <a:rPr lang="en-US" sz="3464" spc="-2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64" spc="-2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diagnosis</a:t>
            </a:r>
          </a:p>
          <a:p>
            <a:pPr algn="l">
              <a:lnSpc>
                <a:spcPts val="4304"/>
              </a:lnSpc>
            </a:pP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tumour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benign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malignant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6871" y="3011434"/>
            <a:ext cx="7006638" cy="121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3464" spc="-2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Email</a:t>
            </a:r>
            <a:r>
              <a:rPr lang="en-US" sz="3464" spc="-2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64" spc="-2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spam</a:t>
            </a:r>
            <a:r>
              <a:rPr lang="en-US" sz="3464" spc="-2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64" spc="-2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filter</a:t>
            </a:r>
          </a:p>
          <a:p>
            <a:pPr algn="l">
              <a:lnSpc>
                <a:spcPts val="4854"/>
              </a:lnSpc>
            </a:pP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decides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if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mail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not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98811" y="4563161"/>
            <a:ext cx="5511594" cy="121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3464" spc="-2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Bioinformatics</a:t>
            </a:r>
          </a:p>
          <a:p>
            <a:pPr algn="l">
              <a:lnSpc>
                <a:spcPts val="4854"/>
              </a:lnSpc>
            </a:pP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classifying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proteins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genes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98811" y="3011434"/>
            <a:ext cx="4946571" cy="121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3464" spc="-2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Handwriting</a:t>
            </a:r>
            <a:r>
              <a:rPr lang="en-US" sz="3464" spc="-2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64" spc="-2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recognition</a:t>
            </a:r>
          </a:p>
          <a:p>
            <a:pPr algn="l">
              <a:lnSpc>
                <a:spcPts val="4854"/>
              </a:lnSpc>
            </a:pP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reading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handwritten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digits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0500" y="9932479"/>
            <a:ext cx="1545212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06510" y="9932479"/>
            <a:ext cx="3035865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(Machine Learning Lecture)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86273" y="9932479"/>
            <a:ext cx="547849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 u="sng">
                <a:solidFill>
                  <a:srgbClr val="0000FF"/>
                </a:solidFill>
                <a:latin typeface="IBM Plex Sans"/>
                <a:ea typeface="IBM Plex Sans"/>
                <a:cs typeface="IBM Plex Sans"/>
                <a:sym typeface="IBM Plex Sans"/>
                <a:hlinkClick r:id="rId4" action="ppaction://hlinksldjump"/>
              </a:rPr>
              <a:t>SVM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496863" y="9932479"/>
            <a:ext cx="610257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43530" y="3017939"/>
            <a:ext cx="3431515" cy="3234109"/>
          </a:xfrm>
          <a:custGeom>
            <a:avLst/>
            <a:gdLst/>
            <a:ahLst/>
            <a:cxnLst/>
            <a:rect r="r" b="b" t="t" l="l"/>
            <a:pathLst>
              <a:path h="3234109" w="3431515">
                <a:moveTo>
                  <a:pt x="0" y="0"/>
                </a:moveTo>
                <a:lnTo>
                  <a:pt x="3431514" y="0"/>
                </a:lnTo>
                <a:lnTo>
                  <a:pt x="3431514" y="3234109"/>
                </a:lnTo>
                <a:lnTo>
                  <a:pt x="0" y="3234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309803" cy="1113015"/>
            <a:chOff x="0" y="0"/>
            <a:chExt cx="24413070" cy="1484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3083" cy="1483995"/>
            </a:xfrm>
            <a:custGeom>
              <a:avLst/>
              <a:gdLst/>
              <a:ahLst/>
              <a:cxnLst/>
              <a:rect r="r" b="b" t="t" l="l"/>
              <a:pathLst>
                <a:path h="1483995" w="24413083">
                  <a:moveTo>
                    <a:pt x="0" y="0"/>
                  </a:moveTo>
                  <a:lnTo>
                    <a:pt x="0" y="1483995"/>
                  </a:lnTo>
                  <a:lnTo>
                    <a:pt x="24413083" y="1483995"/>
                  </a:lnTo>
                  <a:lnTo>
                    <a:pt x="24413083" y="0"/>
                  </a:lnTo>
                  <a:close/>
                </a:path>
              </a:pathLst>
            </a:custGeom>
            <a:solidFill>
              <a:srgbClr val="232A6C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537182" y="3017939"/>
            <a:ext cx="3431515" cy="3234109"/>
          </a:xfrm>
          <a:custGeom>
            <a:avLst/>
            <a:gdLst/>
            <a:ahLst/>
            <a:cxnLst/>
            <a:rect r="r" b="b" t="t" l="l"/>
            <a:pathLst>
              <a:path h="3234109" w="3431515">
                <a:moveTo>
                  <a:pt x="0" y="0"/>
                </a:moveTo>
                <a:lnTo>
                  <a:pt x="3431515" y="0"/>
                </a:lnTo>
                <a:lnTo>
                  <a:pt x="3431515" y="3234109"/>
                </a:lnTo>
                <a:lnTo>
                  <a:pt x="0" y="32341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" y="9950777"/>
            <a:ext cx="18309793" cy="348396"/>
          </a:xfrm>
          <a:custGeom>
            <a:avLst/>
            <a:gdLst/>
            <a:ahLst/>
            <a:cxnLst/>
            <a:rect r="r" b="b" t="t" l="l"/>
            <a:pathLst>
              <a:path h="348396" w="18309793">
                <a:moveTo>
                  <a:pt x="0" y="0"/>
                </a:moveTo>
                <a:lnTo>
                  <a:pt x="18309794" y="0"/>
                </a:lnTo>
                <a:lnTo>
                  <a:pt x="18309794" y="348396"/>
                </a:lnTo>
                <a:lnTo>
                  <a:pt x="0" y="3483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3329" y="122558"/>
            <a:ext cx="5512079" cy="87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3"/>
              </a:lnSpc>
            </a:pPr>
            <a:r>
              <a:rPr lang="en-US" sz="4558" spc="-1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What is a Hyperplane?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8213" y="7497261"/>
            <a:ext cx="6188402" cy="112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6"/>
              </a:lnSpc>
            </a:pPr>
            <a:r>
              <a:rPr lang="en-US" sz="2930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(2</a:t>
            </a:r>
            <a:r>
              <a:rPr lang="en-US" sz="2930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features):</a:t>
            </a:r>
            <a:r>
              <a:rPr lang="en-US" sz="2930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930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hyperplane</a:t>
            </a:r>
            <a:r>
              <a:rPr lang="en-US" sz="2930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2930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2930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line (3</a:t>
            </a:r>
            <a:r>
              <a:rPr lang="en-US" sz="2930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features):</a:t>
            </a:r>
            <a:r>
              <a:rPr lang="en-US" sz="2930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930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hyperplane</a:t>
            </a:r>
            <a:r>
              <a:rPr lang="en-US" sz="2930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2930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2930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plane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28156" y="8671817"/>
            <a:ext cx="12048611" cy="50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3"/>
              </a:lnSpc>
            </a:pP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: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we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cannot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draw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it,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but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same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idea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continues.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That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why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called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34281" y="9118778"/>
            <a:ext cx="105547" cy="50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3"/>
              </a:lnSpc>
            </a:pP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0398" y="1370190"/>
            <a:ext cx="16553698" cy="86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8"/>
              </a:lnSpc>
            </a:pP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hyperplane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boundary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that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separates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classes.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Its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shape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depends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how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many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features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 data</a:t>
            </a:r>
            <a:r>
              <a:rPr lang="en-US" sz="2930" spc="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02572" y="6328181"/>
            <a:ext cx="2971924" cy="413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3"/>
              </a:lnSpc>
            </a:pPr>
            <a:r>
              <a:rPr lang="en-US" sz="2345" spc="-6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hyperplane</a:t>
            </a:r>
            <a:r>
              <a:rPr lang="en-US" sz="2345" spc="-6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345" spc="-6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=</a:t>
            </a:r>
            <a:r>
              <a:rPr lang="en-US" sz="2345" spc="-6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345" spc="-6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345" spc="-6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345" spc="-6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LINE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42777" y="2517315"/>
            <a:ext cx="2889714" cy="413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3"/>
              </a:lnSpc>
            </a:pPr>
            <a:r>
              <a:rPr lang="en-US" sz="2345" spc="-15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2D</a:t>
            </a:r>
            <a:r>
              <a:rPr lang="en-US" sz="2345" spc="-1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345" spc="-15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</a:t>
            </a:r>
            <a:r>
              <a:rPr lang="en-US" sz="2345" spc="-1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345" spc="-15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(2</a:t>
            </a:r>
            <a:r>
              <a:rPr lang="en-US" sz="2345" spc="-1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345" spc="-15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features)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36344" y="2517315"/>
            <a:ext cx="2889714" cy="413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3"/>
              </a:lnSpc>
            </a:pPr>
            <a:r>
              <a:rPr lang="en-US" sz="2345" spc="-15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3D</a:t>
            </a:r>
            <a:r>
              <a:rPr lang="en-US" sz="2345" spc="-1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345" spc="-15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</a:t>
            </a:r>
            <a:r>
              <a:rPr lang="en-US" sz="2345" spc="-1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345" spc="-15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(3</a:t>
            </a:r>
            <a:r>
              <a:rPr lang="en-US" sz="2345" spc="-1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345" spc="-15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features)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31451" y="6328181"/>
            <a:ext cx="3307918" cy="413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3"/>
              </a:lnSpc>
            </a:pPr>
            <a:r>
              <a:rPr lang="en-US" sz="2345" spc="-9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hyperplane</a:t>
            </a:r>
            <a:r>
              <a:rPr lang="en-US" sz="2345" spc="-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345" spc="-9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=</a:t>
            </a:r>
            <a:r>
              <a:rPr lang="en-US" sz="2345" spc="-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345" spc="-9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345" spc="-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345" spc="-9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PLANE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2495" y="7438234"/>
            <a:ext cx="295485" cy="1756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96"/>
              </a:lnSpc>
            </a:pPr>
            <a:r>
              <a:rPr lang="en-US" sz="2930" spc="518">
                <a:solidFill>
                  <a:srgbClr val="232A6C"/>
                </a:solidFill>
                <a:latin typeface="Montserrat"/>
                <a:ea typeface="Montserrat"/>
                <a:cs typeface="Montserrat"/>
                <a:sym typeface="Montserrat"/>
              </a:rPr>
              <a:t>▶ ▶ ▶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6090" y="7500195"/>
            <a:ext cx="3337589" cy="1675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96"/>
              </a:lnSpc>
            </a:pPr>
            <a:r>
              <a:rPr lang="en-US" sz="2930" spc="-1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2D</a:t>
            </a:r>
            <a:r>
              <a:rPr lang="en-US" sz="2930" spc="-1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930" spc="-1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</a:t>
            </a:r>
          </a:p>
          <a:p>
            <a:pPr algn="just">
              <a:lnSpc>
                <a:spcPts val="4396"/>
              </a:lnSpc>
            </a:pPr>
            <a:r>
              <a:rPr lang="en-US" sz="2930" spc="-1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3D</a:t>
            </a:r>
            <a:r>
              <a:rPr lang="en-US" sz="2930" spc="-1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930" spc="-1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</a:t>
            </a:r>
          </a:p>
          <a:p>
            <a:pPr algn="just">
              <a:lnSpc>
                <a:spcPts val="4396"/>
              </a:lnSpc>
            </a:pPr>
            <a:r>
              <a:rPr lang="en-US" sz="2930" spc="-1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4D</a:t>
            </a:r>
            <a:r>
              <a:rPr lang="en-US" sz="2930" spc="-1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930" spc="-1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</a:t>
            </a:r>
            <a:r>
              <a:rPr lang="en-US" sz="2930" spc="-1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930" spc="-1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2930" spc="-1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930" spc="-1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above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6090" y="9118778"/>
            <a:ext cx="1711862" cy="50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3"/>
              </a:lnSpc>
            </a:pPr>
            <a:r>
              <a:rPr lang="en-US" sz="2930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hyp</a:t>
            </a:r>
            <a:r>
              <a:rPr lang="en-US" sz="2930" spc="1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930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erplane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0500" y="9932479"/>
            <a:ext cx="1545212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06510" y="9932479"/>
            <a:ext cx="3035865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(Machine Learning Lecture)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86273" y="9932479"/>
            <a:ext cx="547849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 u="sng">
                <a:solidFill>
                  <a:srgbClr val="0000FF"/>
                </a:solidFill>
                <a:latin typeface="IBM Plex Sans"/>
                <a:ea typeface="IBM Plex Sans"/>
                <a:cs typeface="IBM Plex Sans"/>
                <a:sym typeface="IBM Plex Sans"/>
                <a:hlinkClick r:id="rId8" action="ppaction://hlinksldjump"/>
              </a:rPr>
              <a:t>SVM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496863" y="9932479"/>
            <a:ext cx="610257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1820" y="317396"/>
            <a:ext cx="17599496" cy="9978388"/>
          </a:xfrm>
          <a:custGeom>
            <a:avLst/>
            <a:gdLst/>
            <a:ahLst/>
            <a:cxnLst/>
            <a:rect r="r" b="b" t="t" l="l"/>
            <a:pathLst>
              <a:path h="9978388" w="17599496">
                <a:moveTo>
                  <a:pt x="0" y="0"/>
                </a:moveTo>
                <a:lnTo>
                  <a:pt x="17599496" y="0"/>
                </a:lnTo>
                <a:lnTo>
                  <a:pt x="17599496" y="9978387"/>
                </a:lnTo>
                <a:lnTo>
                  <a:pt x="0" y="9978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861973" cy="10287000"/>
          </a:xfrm>
          <a:custGeom>
            <a:avLst/>
            <a:gdLst/>
            <a:ahLst/>
            <a:cxnLst/>
            <a:rect r="r" b="b" t="t" l="l"/>
            <a:pathLst>
              <a:path h="10287000" w="17861973">
                <a:moveTo>
                  <a:pt x="0" y="0"/>
                </a:moveTo>
                <a:lnTo>
                  <a:pt x="17861973" y="0"/>
                </a:lnTo>
                <a:lnTo>
                  <a:pt x="1786197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74039" y="5507345"/>
            <a:ext cx="182070" cy="580130"/>
          </a:xfrm>
          <a:custGeom>
            <a:avLst/>
            <a:gdLst/>
            <a:ahLst/>
            <a:cxnLst/>
            <a:rect r="r" b="b" t="t" l="l"/>
            <a:pathLst>
              <a:path h="580130" w="182070">
                <a:moveTo>
                  <a:pt x="0" y="0"/>
                </a:moveTo>
                <a:lnTo>
                  <a:pt x="182071" y="0"/>
                </a:lnTo>
                <a:lnTo>
                  <a:pt x="182071" y="580130"/>
                </a:lnTo>
                <a:lnTo>
                  <a:pt x="0" y="580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309803" cy="1113015"/>
            <a:chOff x="0" y="0"/>
            <a:chExt cx="24413070" cy="1484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3083" cy="1483995"/>
            </a:xfrm>
            <a:custGeom>
              <a:avLst/>
              <a:gdLst/>
              <a:ahLst/>
              <a:cxnLst/>
              <a:rect r="r" b="b" t="t" l="l"/>
              <a:pathLst>
                <a:path h="1483995" w="24413083">
                  <a:moveTo>
                    <a:pt x="0" y="0"/>
                  </a:moveTo>
                  <a:lnTo>
                    <a:pt x="0" y="1483995"/>
                  </a:lnTo>
                  <a:lnTo>
                    <a:pt x="24413083" y="1483995"/>
                  </a:lnTo>
                  <a:lnTo>
                    <a:pt x="24413083" y="0"/>
                  </a:lnTo>
                  <a:close/>
                </a:path>
              </a:pathLst>
            </a:custGeom>
            <a:solidFill>
              <a:srgbClr val="232A6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0357" y="6701552"/>
            <a:ext cx="18368839" cy="2422255"/>
            <a:chOff x="0" y="0"/>
            <a:chExt cx="24491785" cy="32296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91823" cy="3229610"/>
            </a:xfrm>
            <a:custGeom>
              <a:avLst/>
              <a:gdLst/>
              <a:ahLst/>
              <a:cxnLst/>
              <a:rect r="r" b="b" t="t" l="l"/>
              <a:pathLst>
                <a:path h="3229610" w="24491823">
                  <a:moveTo>
                    <a:pt x="0" y="0"/>
                  </a:moveTo>
                  <a:lnTo>
                    <a:pt x="24491823" y="0"/>
                  </a:lnTo>
                  <a:lnTo>
                    <a:pt x="24491823" y="3229610"/>
                  </a:lnTo>
                  <a:lnTo>
                    <a:pt x="0" y="3229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9729368"/>
            <a:ext cx="18732179" cy="807520"/>
            <a:chOff x="0" y="0"/>
            <a:chExt cx="24976239" cy="10766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976201" cy="1076706"/>
            </a:xfrm>
            <a:custGeom>
              <a:avLst/>
              <a:gdLst/>
              <a:ahLst/>
              <a:cxnLst/>
              <a:rect r="r" b="b" t="t" l="l"/>
              <a:pathLst>
                <a:path h="1076706" w="24976201">
                  <a:moveTo>
                    <a:pt x="0" y="0"/>
                  </a:moveTo>
                  <a:lnTo>
                    <a:pt x="24976201" y="0"/>
                  </a:lnTo>
                  <a:lnTo>
                    <a:pt x="24976201" y="1076706"/>
                  </a:lnTo>
                  <a:lnTo>
                    <a:pt x="0" y="1076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6" t="0" r="-46" b="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2129600" y="4089483"/>
            <a:ext cx="13818537" cy="491728"/>
          </a:xfrm>
          <a:custGeom>
            <a:avLst/>
            <a:gdLst/>
            <a:ahLst/>
            <a:cxnLst/>
            <a:rect r="r" b="b" t="t" l="l"/>
            <a:pathLst>
              <a:path h="491728" w="13818537">
                <a:moveTo>
                  <a:pt x="0" y="0"/>
                </a:moveTo>
                <a:lnTo>
                  <a:pt x="13818536" y="0"/>
                </a:lnTo>
                <a:lnTo>
                  <a:pt x="13818536" y="491728"/>
                </a:lnTo>
                <a:lnTo>
                  <a:pt x="0" y="491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3329" y="122558"/>
            <a:ext cx="10888751" cy="87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3"/>
              </a:lnSpc>
            </a:pPr>
            <a:r>
              <a:rPr lang="en-US" sz="4558" spc="-2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Problem: Sometimes a Line Cannot Separate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0398" y="1839973"/>
            <a:ext cx="11730780" cy="66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Here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Class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sits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middle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Class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sits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both</a:t>
            </a:r>
            <a:r>
              <a:rPr lang="en-US" sz="3464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sides.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0398" y="7635659"/>
            <a:ext cx="17745418" cy="1103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4"/>
              </a:lnSpc>
            </a:pP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single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point,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straight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line,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can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separate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these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two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classes.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Our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step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by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step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method fails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here.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We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need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new</a:t>
            </a:r>
            <a:r>
              <a:rPr lang="en-US" sz="3464" spc="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idea.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52636" y="2888933"/>
            <a:ext cx="3083643" cy="49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9"/>
              </a:lnSpc>
            </a:pPr>
            <a:r>
              <a:rPr lang="en-US" sz="2848" spc="-19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1D</a:t>
            </a:r>
            <a:r>
              <a:rPr lang="en-US" sz="2848" spc="-1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848" spc="-19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</a:t>
            </a:r>
            <a:r>
              <a:rPr lang="en-US" sz="2848" spc="-1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848" spc="-19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on</a:t>
            </a:r>
            <a:r>
              <a:rPr lang="en-US" sz="2848" spc="-1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848" spc="-19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848" spc="-1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848" spc="-19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line: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52665" y="2893476"/>
            <a:ext cx="174946" cy="495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9"/>
              </a:lnSpc>
            </a:pPr>
            <a:r>
              <a:rPr lang="en-US" sz="2848" spc="44">
                <a:solidFill>
                  <a:srgbClr val="232A6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854515" y="4459653"/>
            <a:ext cx="160687" cy="458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533" spc="-3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x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0500" y="9932451"/>
            <a:ext cx="1545212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65212" y="3596145"/>
            <a:ext cx="174346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25C5C"/>
                </a:solidFill>
                <a:latin typeface="IBM Plex Sans"/>
                <a:ea typeface="IBM Plex Sans"/>
                <a:cs typeface="IBM Plex Sans"/>
                <a:sym typeface="IBM Plex Sans"/>
              </a:rPr>
              <a:t>B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26485" y="3596145"/>
            <a:ext cx="174346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25C5C"/>
                </a:solidFill>
                <a:latin typeface="IBM Plex Sans"/>
                <a:ea typeface="IBM Plex Sans"/>
                <a:cs typeface="IBM Plex Sans"/>
                <a:sym typeface="IBM Plex Sans"/>
              </a:rPr>
              <a:t>B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87757" y="3596145"/>
            <a:ext cx="174346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25C5C"/>
                </a:solidFill>
                <a:latin typeface="IBM Plex Sans"/>
                <a:ea typeface="IBM Plex Sans"/>
                <a:cs typeface="IBM Plex Sans"/>
                <a:sym typeface="IBM Plex Sans"/>
              </a:rPr>
              <a:t>B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06510" y="9932451"/>
            <a:ext cx="3035865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(Machine Learning Lecture)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70757" y="3596145"/>
            <a:ext cx="174346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0E7C86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71955" y="3596145"/>
            <a:ext cx="174346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0E7C86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73154" y="3596145"/>
            <a:ext cx="174346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0E7C86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86273" y="9932451"/>
            <a:ext cx="547849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 u="sng">
                <a:solidFill>
                  <a:srgbClr val="0000FF"/>
                </a:solidFill>
                <a:latin typeface="IBM Plex Sans"/>
                <a:ea typeface="IBM Plex Sans"/>
                <a:cs typeface="IBM Plex Sans"/>
                <a:sym typeface="IBM Plex Sans"/>
                <a:hlinkClick r:id="rId8" action="ppaction://hlinksldjump"/>
              </a:rPr>
              <a:t>SVM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74352" y="3596145"/>
            <a:ext cx="174346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0E7C86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575550" y="3596145"/>
            <a:ext cx="174346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0E7C86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58550" y="3596145"/>
            <a:ext cx="174346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25C5C"/>
                </a:solidFill>
                <a:latin typeface="IBM Plex Sans"/>
                <a:ea typeface="IBM Plex Sans"/>
                <a:cs typeface="IBM Plex Sans"/>
                <a:sym typeface="IBM Plex Sans"/>
              </a:rPr>
              <a:t>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819823" y="3596145"/>
            <a:ext cx="174346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25C5C"/>
                </a:solidFill>
                <a:latin typeface="IBM Plex Sans"/>
                <a:ea typeface="IBM Plex Sans"/>
                <a:cs typeface="IBM Plex Sans"/>
                <a:sym typeface="IBM Plex Sans"/>
              </a:rPr>
              <a:t>B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000036" y="5295319"/>
            <a:ext cx="817112" cy="88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9"/>
              </a:lnSpc>
            </a:pPr>
            <a:r>
              <a:rPr lang="en-US" sz="1897" spc="-1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Class</a:t>
            </a:r>
            <a:r>
              <a:rPr lang="en-US" sz="1897" spc="-1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897" spc="-1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 Class</a:t>
            </a:r>
            <a:r>
              <a:rPr lang="en-US" sz="1897" spc="-1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897" spc="-1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781095" y="3596145"/>
            <a:ext cx="174346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25C5C"/>
                </a:solidFill>
                <a:latin typeface="IBM Plex Sans"/>
                <a:ea typeface="IBM Plex Sans"/>
                <a:cs typeface="IBM Plex Sans"/>
                <a:sym typeface="IBM Plex Sans"/>
              </a:rPr>
              <a:t>B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496863" y="9932451"/>
            <a:ext cx="610257" cy="33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9/12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492552" y="5560228"/>
            <a:ext cx="4565790" cy="45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533" spc="-9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No</a:t>
            </a:r>
            <a:r>
              <a:rPr lang="en-US" sz="2533" spc="-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33" spc="-9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single</a:t>
            </a:r>
            <a:r>
              <a:rPr lang="en-US" sz="2533" spc="-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33" spc="-9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point</a:t>
            </a:r>
            <a:r>
              <a:rPr lang="en-US" sz="2533" spc="-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33" spc="-9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can</a:t>
            </a:r>
            <a:r>
              <a:rPr lang="en-US" sz="2533" spc="-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33" spc="-9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split</a:t>
            </a:r>
            <a:r>
              <a:rPr lang="en-US" sz="2533" spc="-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33" spc="-9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36455" y="5560228"/>
            <a:ext cx="3557921" cy="45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533" spc="-15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</a:t>
            </a:r>
            <a:r>
              <a:rPr lang="en-US" sz="2533" spc="-1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33" spc="-15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linearly</a:t>
            </a:r>
            <a:r>
              <a:rPr lang="en-US" sz="2533" spc="-1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33" spc="-15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separable!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81633" y="5645496"/>
            <a:ext cx="348710" cy="516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533" spc="610">
                <a:solidFill>
                  <a:srgbClr val="232A6C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40398" y="6852533"/>
            <a:ext cx="2545690" cy="69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sz="3798" spc="-1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 problem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552444" cy="10504136"/>
          </a:xfrm>
          <a:custGeom>
            <a:avLst/>
            <a:gdLst/>
            <a:ahLst/>
            <a:cxnLst/>
            <a:rect r="r" b="b" t="t" l="l"/>
            <a:pathLst>
              <a:path h="10504136" w="18552444">
                <a:moveTo>
                  <a:pt x="0" y="0"/>
                </a:moveTo>
                <a:lnTo>
                  <a:pt x="18552444" y="0"/>
                </a:lnTo>
                <a:lnTo>
                  <a:pt x="18552444" y="10504136"/>
                </a:lnTo>
                <a:lnTo>
                  <a:pt x="0" y="10504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3915" y="-45763"/>
            <a:ext cx="18234890" cy="10239225"/>
          </a:xfrm>
          <a:custGeom>
            <a:avLst/>
            <a:gdLst/>
            <a:ahLst/>
            <a:cxnLst/>
            <a:rect r="r" b="b" t="t" l="l"/>
            <a:pathLst>
              <a:path h="10239225" w="18234890">
                <a:moveTo>
                  <a:pt x="0" y="0"/>
                </a:moveTo>
                <a:lnTo>
                  <a:pt x="18234890" y="0"/>
                </a:lnTo>
                <a:lnTo>
                  <a:pt x="18234890" y="10239225"/>
                </a:lnTo>
                <a:lnTo>
                  <a:pt x="0" y="10239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8268" y="-185588"/>
            <a:ext cx="17269982" cy="9800658"/>
          </a:xfrm>
          <a:custGeom>
            <a:avLst/>
            <a:gdLst/>
            <a:ahLst/>
            <a:cxnLst/>
            <a:rect r="r" b="b" t="t" l="l"/>
            <a:pathLst>
              <a:path h="9800658" w="17269982">
                <a:moveTo>
                  <a:pt x="0" y="0"/>
                </a:moveTo>
                <a:lnTo>
                  <a:pt x="17269982" y="0"/>
                </a:lnTo>
                <a:lnTo>
                  <a:pt x="17269982" y="9800658"/>
                </a:lnTo>
                <a:lnTo>
                  <a:pt x="0" y="9800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562" y="0"/>
            <a:ext cx="16818738" cy="10557217"/>
          </a:xfrm>
          <a:custGeom>
            <a:avLst/>
            <a:gdLst/>
            <a:ahLst/>
            <a:cxnLst/>
            <a:rect r="r" b="b" t="t" l="l"/>
            <a:pathLst>
              <a:path h="10557217" w="16818738">
                <a:moveTo>
                  <a:pt x="0" y="0"/>
                </a:moveTo>
                <a:lnTo>
                  <a:pt x="16818738" y="0"/>
                </a:lnTo>
                <a:lnTo>
                  <a:pt x="16818738" y="10557217"/>
                </a:lnTo>
                <a:lnTo>
                  <a:pt x="0" y="105572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DAHRk0_sazM</dc:identifier>
  <dcterms:modified xsi:type="dcterms:W3CDTF">2011-08-01T06:04:30Z</dcterms:modified>
  <cp:revision>1</cp:revision>
</cp:coreProperties>
</file>