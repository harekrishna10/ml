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4610100" cy="3454400"/>
  <p:notesSz cx="6858000" cy="9144000"/>
  <p:embeddedFontLst>
    <p:embeddedFont>
      <p:font typeface="IBM Plex Sans Condensed" charset="1" panose="020B0506050203000203"/>
      <p:regular r:id="rId25"/>
    </p:embeddedFont>
    <p:embeddedFont>
      <p:font typeface="IBM Plex Sans" charset="1" panose="020B05030502030002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14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41" y="778183"/>
            <a:ext cx="4610367" cy="864527"/>
            <a:chOff x="0" y="0"/>
            <a:chExt cx="4610367" cy="8645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432554" cy="82423"/>
            </a:xfrm>
            <a:custGeom>
              <a:avLst/>
              <a:gdLst/>
              <a:ahLst/>
              <a:cxnLst/>
              <a:rect r="r" b="b" t="t" l="l"/>
              <a:pathLst>
                <a:path h="82423" w="4432554">
                  <a:moveTo>
                    <a:pt x="0" y="50800"/>
                  </a:moveTo>
                  <a:cubicBezTo>
                    <a:pt x="0" y="22860"/>
                    <a:pt x="22860" y="0"/>
                    <a:pt x="50800" y="0"/>
                  </a:cubicBezTo>
                  <a:lnTo>
                    <a:pt x="4381754" y="0"/>
                  </a:lnTo>
                  <a:cubicBezTo>
                    <a:pt x="4409694" y="0"/>
                    <a:pt x="4432554" y="22860"/>
                    <a:pt x="4432554" y="50800"/>
                  </a:cubicBezTo>
                  <a:lnTo>
                    <a:pt x="4432554" y="82423"/>
                  </a:lnTo>
                  <a:lnTo>
                    <a:pt x="0" y="82423"/>
                  </a:lnTo>
                </a:path>
              </a:pathLst>
            </a:custGeom>
            <a:solidFill>
              <a:srgbClr val="3333B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4300" y="126746"/>
              <a:ext cx="4432554" cy="674242"/>
            </a:xfrm>
            <a:custGeom>
              <a:avLst/>
              <a:gdLst/>
              <a:ahLst/>
              <a:cxnLst/>
              <a:rect r="r" b="b" t="t" l="l"/>
              <a:pathLst>
                <a:path h="674242" w="4432554">
                  <a:moveTo>
                    <a:pt x="0" y="674242"/>
                  </a:moveTo>
                  <a:lnTo>
                    <a:pt x="4432554" y="674242"/>
                  </a:lnTo>
                  <a:lnTo>
                    <a:pt x="44325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07950"/>
              <a:ext cx="4432554" cy="642238"/>
            </a:xfrm>
            <a:custGeom>
              <a:avLst/>
              <a:gdLst/>
              <a:ahLst/>
              <a:cxnLst/>
              <a:rect r="r" b="b" t="t" l="l"/>
              <a:pathLst>
                <a:path h="642238" w="4432554">
                  <a:moveTo>
                    <a:pt x="0" y="591438"/>
                  </a:moveTo>
                  <a:cubicBezTo>
                    <a:pt x="0" y="619378"/>
                    <a:pt x="22860" y="642238"/>
                    <a:pt x="50800" y="642238"/>
                  </a:cubicBezTo>
                  <a:lnTo>
                    <a:pt x="4381754" y="642238"/>
                  </a:lnTo>
                  <a:cubicBezTo>
                    <a:pt x="4409694" y="642238"/>
                    <a:pt x="4432554" y="619378"/>
                    <a:pt x="4432554" y="591438"/>
                  </a:cubicBezTo>
                  <a:lnTo>
                    <a:pt x="4432554" y="0"/>
                  </a:lnTo>
                  <a:lnTo>
                    <a:pt x="0" y="0"/>
                  </a:lnTo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6406" y="949900"/>
            <a:ext cx="2585933" cy="45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 Forest Algorithm</a:t>
            </a:r>
          </a:p>
          <a:p>
            <a:pPr algn="ctr">
              <a:lnSpc>
                <a:spcPts val="1527"/>
              </a:lnSpc>
            </a:pP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Guide to Classification &amp;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4608" y="1746094"/>
            <a:ext cx="83512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Ananda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Rimal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90" y="189274"/>
            <a:ext cx="4129657" cy="2753104"/>
          </a:xfrm>
          <a:custGeom>
            <a:avLst/>
            <a:gdLst/>
            <a:ahLst/>
            <a:cxnLst/>
            <a:rect r="r" b="b" t="t" l="l"/>
            <a:pathLst>
              <a:path h="2753104" w="4129657">
                <a:moveTo>
                  <a:pt x="0" y="0"/>
                </a:moveTo>
                <a:lnTo>
                  <a:pt x="4129656" y="0"/>
                </a:lnTo>
                <a:lnTo>
                  <a:pt x="4129656" y="2753104"/>
                </a:lnTo>
                <a:lnTo>
                  <a:pt x="0" y="2753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1371600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1574797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1790700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97" y="507997"/>
            <a:ext cx="4622797" cy="622297"/>
            <a:chOff x="0" y="0"/>
            <a:chExt cx="6163729" cy="829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63691" cy="829691"/>
            </a:xfrm>
            <a:custGeom>
              <a:avLst/>
              <a:gdLst/>
              <a:ahLst/>
              <a:cxnLst/>
              <a:rect r="r" b="b" t="t" l="l"/>
              <a:pathLst>
                <a:path h="829691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829691"/>
                  </a:lnTo>
                  <a:lnTo>
                    <a:pt x="0" y="82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4900" y="2019300"/>
            <a:ext cx="1816103" cy="762000"/>
            <a:chOff x="0" y="0"/>
            <a:chExt cx="2421471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21509" cy="1016000"/>
            </a:xfrm>
            <a:custGeom>
              <a:avLst/>
              <a:gdLst/>
              <a:ahLst/>
              <a:cxnLst/>
              <a:rect r="r" b="b" t="t" l="l"/>
              <a:pathLst>
                <a:path h="1016000" w="2421509">
                  <a:moveTo>
                    <a:pt x="0" y="0"/>
                  </a:moveTo>
                  <a:lnTo>
                    <a:pt x="2421509" y="0"/>
                  </a:lnTo>
                  <a:lnTo>
                    <a:pt x="2421509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004" y="65522"/>
            <a:ext cx="1885655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is Random Forest?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41" y="582720"/>
            <a:ext cx="3367059" cy="69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Definition</a:t>
            </a:r>
          </a:p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Forest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Decision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working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together</a:t>
            </a:r>
          </a:p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Think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like: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6347" y="2372306"/>
            <a:ext cx="37605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9245" y="2696308"/>
            <a:ext cx="32930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Weak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56330" y="2799512"/>
            <a:ext cx="437302" cy="20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Forest Strong!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5633" y="1286656"/>
            <a:ext cx="2136257" cy="61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Asking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doctors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instead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just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doctor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gives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their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opinion Final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answer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wins!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99731" y="2365934"/>
            <a:ext cx="644557" cy="27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Best Prediction!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711203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914400"/>
            <a:ext cx="76200" cy="88897"/>
            <a:chOff x="0" y="0"/>
            <a:chExt cx="101600" cy="118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18491"/>
            </a:xfrm>
            <a:custGeom>
              <a:avLst/>
              <a:gdLst/>
              <a:ahLst/>
              <a:cxnLst/>
              <a:rect r="r" b="b" t="t" l="l"/>
              <a:pathLst>
                <a:path h="11849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1130303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9397" y="1346197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1727197"/>
            <a:ext cx="4737097" cy="1803397"/>
            <a:chOff x="0" y="0"/>
            <a:chExt cx="6316129" cy="24045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6091" cy="2404491"/>
            </a:xfrm>
            <a:custGeom>
              <a:avLst/>
              <a:gdLst/>
              <a:ahLst/>
              <a:cxnLst/>
              <a:rect r="r" b="b" t="t" l="l"/>
              <a:pathLst>
                <a:path h="2404491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2404491"/>
                  </a:lnTo>
                  <a:lnTo>
                    <a:pt x="0" y="2404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004" y="65522"/>
            <a:ext cx="1978047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Why Use Random Forest?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5633" y="2674782"/>
            <a:ext cx="127634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Number</a:t>
            </a:r>
            <a:r>
              <a:rPr lang="en-US" sz="1090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051" y="2874893"/>
            <a:ext cx="64513" cy="16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-3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633" y="2004193"/>
            <a:ext cx="133112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Category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541" y="429254"/>
            <a:ext cx="79110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Advantages: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5633" y="629745"/>
            <a:ext cx="988085" cy="4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Accuracy: No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Overfitting: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5633" y="1059342"/>
            <a:ext cx="78959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Types: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5633" y="1269368"/>
            <a:ext cx="168333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Important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41" y="1551413"/>
            <a:ext cx="616677" cy="43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Use:</a:t>
            </a:r>
          </a:p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0856" y="631565"/>
            <a:ext cx="1334653" cy="40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single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 Many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fix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errors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1261" y="1061161"/>
            <a:ext cx="152663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Categories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Numbers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7475" y="1271187"/>
            <a:ext cx="121885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2734" y="2231222"/>
            <a:ext cx="1854803" cy="43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Email: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Disease: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Sick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Healthy Customer: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Will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Won’t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2734" y="2882760"/>
            <a:ext cx="1205932" cy="1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House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price: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300,000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2734" y="3016634"/>
            <a:ext cx="1033177" cy="1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Temperature:25°C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" y="419100"/>
            <a:ext cx="254003" cy="1054103"/>
            <a:chOff x="0" y="0"/>
            <a:chExt cx="338671" cy="140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1405509"/>
            </a:xfrm>
            <a:custGeom>
              <a:avLst/>
              <a:gdLst/>
              <a:ahLst/>
              <a:cxnLst/>
              <a:rect r="r" b="b" t="t" l="l"/>
              <a:pathLst>
                <a:path h="1405509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1405509"/>
                  </a:lnTo>
                  <a:lnTo>
                    <a:pt x="0" y="140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1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5697" y="1524000"/>
            <a:ext cx="2286000" cy="1739903"/>
            <a:chOff x="0" y="0"/>
            <a:chExt cx="3048000" cy="231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2319909"/>
            </a:xfrm>
            <a:custGeom>
              <a:avLst/>
              <a:gdLst/>
              <a:ahLst/>
              <a:cxnLst/>
              <a:rect r="r" b="b" t="t" l="l"/>
              <a:pathLst>
                <a:path h="231990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319909"/>
                  </a:lnTo>
                  <a:lnTo>
                    <a:pt x="0" y="231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" y="65522"/>
            <a:ext cx="2078850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 Random Forest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4614" y="493147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4614" y="694153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614" y="895150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4614" y="1096156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614" y="1297162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5633" y="443608"/>
            <a:ext cx="1614573" cy="99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Take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Original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  <a:p>
            <a:pPr algn="l">
              <a:lnSpc>
                <a:spcPts val="158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Create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Samples Build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 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</a:t>
            </a:r>
          </a:p>
          <a:p>
            <a:pPr algn="l">
              <a:lnSpc>
                <a:spcPts val="158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Wins!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2375" y="1597390"/>
            <a:ext cx="28892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341" y="1961921"/>
            <a:ext cx="208823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666" y="2286705"/>
            <a:ext cx="409823" cy="55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67662" y="2286705"/>
            <a:ext cx="409813" cy="55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Tree2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71658" y="2286705"/>
            <a:ext cx="409813" cy="54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Tree3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75645" y="2286705"/>
            <a:ext cx="376057" cy="54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Tree4 Spam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7134" y="2969914"/>
            <a:ext cx="1421625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(3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6066" y="793175"/>
            <a:ext cx="2635863" cy="1812312"/>
            <a:chOff x="0" y="0"/>
            <a:chExt cx="2635860" cy="18123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6040" y="63500"/>
              <a:ext cx="2503805" cy="5080"/>
            </a:xfrm>
            <a:custGeom>
              <a:avLst/>
              <a:gdLst/>
              <a:ahLst/>
              <a:cxnLst/>
              <a:rect r="r" b="b" t="t" l="l"/>
              <a:pathLst>
                <a:path h="5080" w="2503805">
                  <a:moveTo>
                    <a:pt x="0" y="0"/>
                  </a:moveTo>
                  <a:lnTo>
                    <a:pt x="2503805" y="0"/>
                  </a:lnTo>
                  <a:lnTo>
                    <a:pt x="250380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7632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6766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447927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122678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67305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040" y="220345"/>
              <a:ext cx="2503805" cy="5080"/>
            </a:xfrm>
            <a:custGeom>
              <a:avLst/>
              <a:gdLst/>
              <a:ahLst/>
              <a:cxnLst/>
              <a:rect r="r" b="b" t="t" l="l"/>
              <a:pathLst>
                <a:path h="5080" w="2503805">
                  <a:moveTo>
                    <a:pt x="0" y="0"/>
                  </a:moveTo>
                  <a:lnTo>
                    <a:pt x="2503805" y="0"/>
                  </a:lnTo>
                  <a:lnTo>
                    <a:pt x="250380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57632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6766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47927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22678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67305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57632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86766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447927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122678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67305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57632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86766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447927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122678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67305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57632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86766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447927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122678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567305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57632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86766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447927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122678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567305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57632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86766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447927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122678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567305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57632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867664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447927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122678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567305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63500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57632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867664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447927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122678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2567305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63500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357632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867664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447927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122678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567305" y="1440053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63500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357632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867664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447927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2122678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2567305" y="1591945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66040" y="1743710"/>
              <a:ext cx="2503805" cy="5080"/>
            </a:xfrm>
            <a:custGeom>
              <a:avLst/>
              <a:gdLst/>
              <a:ahLst/>
              <a:cxnLst/>
              <a:rect r="r" b="b" t="t" l="l"/>
              <a:pathLst>
                <a:path h="5080" w="2503805">
                  <a:moveTo>
                    <a:pt x="0" y="0"/>
                  </a:moveTo>
                  <a:lnTo>
                    <a:pt x="2503805" y="0"/>
                  </a:lnTo>
                  <a:lnTo>
                    <a:pt x="250380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08004" y="65522"/>
            <a:ext cx="2449135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 1: Will Customer Buy?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8541" y="584673"/>
            <a:ext cx="54988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8541" y="2655256"/>
            <a:ext cx="82110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Person: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8541" y="2863339"/>
            <a:ext cx="61682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Question: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9169" y="586492"/>
            <a:ext cx="181874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customers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their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05202" y="2657075"/>
            <a:ext cx="263238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Age=Young,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Income=Medium,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Student=No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04786" y="2865158"/>
            <a:ext cx="196079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Will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buy?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No?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28017" y="870785"/>
            <a:ext cx="145190" cy="16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1 2 3 4 5 6 7 8 9 10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22187" y="870785"/>
            <a:ext cx="365303" cy="16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Young Young Middle Senior Senior Senior Middle Young Young Senior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932156" y="870785"/>
            <a:ext cx="436997" cy="16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Income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 Low Low Medium High Medium High Medium High Medium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512419" y="870785"/>
            <a:ext cx="533429" cy="16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Student?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187217" y="870785"/>
            <a:ext cx="298609" cy="16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Buy?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No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Yes Yes Yes Yes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Yes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5/18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97" y="2540003"/>
            <a:ext cx="4622797" cy="596903"/>
            <a:chOff x="0" y="0"/>
            <a:chExt cx="6163729" cy="795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63691" cy="795909"/>
            </a:xfrm>
            <a:custGeom>
              <a:avLst/>
              <a:gdLst/>
              <a:ahLst/>
              <a:cxnLst/>
              <a:rect r="r" b="b" t="t" l="l"/>
              <a:pathLst>
                <a:path h="795909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464" y="1043445"/>
            <a:ext cx="2515067" cy="1174623"/>
            <a:chOff x="0" y="0"/>
            <a:chExt cx="2515070" cy="11746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6040" y="63500"/>
              <a:ext cx="2383028" cy="5080"/>
            </a:xfrm>
            <a:custGeom>
              <a:avLst/>
              <a:gdLst/>
              <a:ahLst/>
              <a:cxnLst/>
              <a:rect r="r" b="b" t="t" l="l"/>
              <a:pathLst>
                <a:path h="5080" w="2383028">
                  <a:moveTo>
                    <a:pt x="0" y="0"/>
                  </a:moveTo>
                  <a:lnTo>
                    <a:pt x="2383028" y="0"/>
                  </a:lnTo>
                  <a:lnTo>
                    <a:pt x="238302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8580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84073" y="68580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94281" y="68580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446528" y="68580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6040" y="240665"/>
              <a:ext cx="2383028" cy="5080"/>
            </a:xfrm>
            <a:custGeom>
              <a:avLst/>
              <a:gdLst/>
              <a:ahLst/>
              <a:cxnLst/>
              <a:rect r="r" b="b" t="t" l="l"/>
              <a:pathLst>
                <a:path h="5080" w="2383028">
                  <a:moveTo>
                    <a:pt x="0" y="0"/>
                  </a:moveTo>
                  <a:lnTo>
                    <a:pt x="2383028" y="0"/>
                  </a:lnTo>
                  <a:lnTo>
                    <a:pt x="238302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245745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84073" y="245745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94281" y="245745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46528" y="245745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417830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84073" y="417830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994281" y="417830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446528" y="417830"/>
              <a:ext cx="5080" cy="171958"/>
            </a:xfrm>
            <a:custGeom>
              <a:avLst/>
              <a:gdLst/>
              <a:ahLst/>
              <a:cxnLst/>
              <a:rect r="r" b="b" t="t" l="l"/>
              <a:pathLst>
                <a:path h="171958" w="5080">
                  <a:moveTo>
                    <a:pt x="0" y="171958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19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58978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84073" y="58978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94281" y="58978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446528" y="58978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761873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84073" y="761873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994281" y="761873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446528" y="761873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93395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84073" y="93395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994281" y="93395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446528" y="933958"/>
              <a:ext cx="5080" cy="172085"/>
            </a:xfrm>
            <a:custGeom>
              <a:avLst/>
              <a:gdLst/>
              <a:ahLst/>
              <a:cxnLst/>
              <a:rect r="r" b="b" t="t" l="l"/>
              <a:pathLst>
                <a:path h="172085" w="5080">
                  <a:moveTo>
                    <a:pt x="0" y="17208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72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6040" y="1106043"/>
              <a:ext cx="2383028" cy="5080"/>
            </a:xfrm>
            <a:custGeom>
              <a:avLst/>
              <a:gdLst/>
              <a:ahLst/>
              <a:cxnLst/>
              <a:rect r="r" b="b" t="t" l="l"/>
              <a:pathLst>
                <a:path h="5080" w="2383028">
                  <a:moveTo>
                    <a:pt x="0" y="0"/>
                  </a:moveTo>
                  <a:lnTo>
                    <a:pt x="2383028" y="0"/>
                  </a:lnTo>
                  <a:lnTo>
                    <a:pt x="238302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8004" y="65522"/>
            <a:ext cx="3148403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 Forest Decides - Customer Purchase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541" y="2303821"/>
            <a:ext cx="79411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Count: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4385" y="2799388"/>
            <a:ext cx="22452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FF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541" y="563928"/>
            <a:ext cx="82110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541" y="807996"/>
            <a:ext cx="242648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Different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Give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Their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Opinion: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8415" y="1106024"/>
            <a:ext cx="409813" cy="10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Tree2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Tree3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Tree5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08928" y="1106024"/>
            <a:ext cx="1283675" cy="10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Looksat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Age,Income Age,Student Income,Student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 Age,Income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19209" y="1106024"/>
            <a:ext cx="306314" cy="10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No No No </a:t>
            </a:r>
            <a:r>
              <a:rPr lang="en-US" sz="1090" spc="3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541" y="2801207"/>
            <a:ext cx="77489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5460" y="2801207"/>
            <a:ext cx="885634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Will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buy!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8741" y="2305641"/>
            <a:ext cx="1006050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No=4,Yes=1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5202" y="565747"/>
            <a:ext cx="222024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Young,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Medium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541" y="2602421"/>
            <a:ext cx="885254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Final Decision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0780" y="2836707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4652" y="668398"/>
            <a:ext cx="3618690" cy="1508655"/>
            <a:chOff x="0" y="0"/>
            <a:chExt cx="3618687" cy="1508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6040" y="63500"/>
              <a:ext cx="3486658" cy="5080"/>
            </a:xfrm>
            <a:custGeom>
              <a:avLst/>
              <a:gdLst/>
              <a:ahLst/>
              <a:cxnLst/>
              <a:rect r="r" b="b" t="t" l="l"/>
              <a:pathLst>
                <a:path h="5080" w="3486658">
                  <a:moveTo>
                    <a:pt x="0" y="0"/>
                  </a:moveTo>
                  <a:lnTo>
                    <a:pt x="3486658" y="0"/>
                  </a:lnTo>
                  <a:lnTo>
                    <a:pt x="348665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7632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4612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40636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860548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50158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040" y="220345"/>
              <a:ext cx="3486658" cy="5080"/>
            </a:xfrm>
            <a:custGeom>
              <a:avLst/>
              <a:gdLst/>
              <a:ahLst/>
              <a:cxnLst/>
              <a:rect r="r" b="b" t="t" l="l"/>
              <a:pathLst>
                <a:path h="5080" w="3486658">
                  <a:moveTo>
                    <a:pt x="0" y="0"/>
                  </a:moveTo>
                  <a:lnTo>
                    <a:pt x="3486658" y="0"/>
                  </a:lnTo>
                  <a:lnTo>
                    <a:pt x="348665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57632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4612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40636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860548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550158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57632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4612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40636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860548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550158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57632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24612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0636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860548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550158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57632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4612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040636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860548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550158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57632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4612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040636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860548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50158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57632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4612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040636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860548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550158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57632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246124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040636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860548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3550158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63500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57632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46124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040636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860548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3550158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66040" y="1440053"/>
              <a:ext cx="3486658" cy="5080"/>
            </a:xfrm>
            <a:custGeom>
              <a:avLst/>
              <a:gdLst/>
              <a:ahLst/>
              <a:cxnLst/>
              <a:rect r="r" b="b" t="t" l="l"/>
              <a:pathLst>
                <a:path h="5080" w="3486658">
                  <a:moveTo>
                    <a:pt x="0" y="0"/>
                  </a:moveTo>
                  <a:lnTo>
                    <a:pt x="3486658" y="0"/>
                  </a:lnTo>
                  <a:lnTo>
                    <a:pt x="3486658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8004" y="65522"/>
            <a:ext cx="2626509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 2: Email Spam Detection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8541" y="459915"/>
            <a:ext cx="54988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8541" y="2226821"/>
            <a:ext cx="74433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541" y="2434904"/>
            <a:ext cx="87822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Vote: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53728" y="2928928"/>
            <a:ext cx="2142515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Result: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SPAM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(5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votes)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9169" y="461734"/>
            <a:ext cx="116665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emails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inbox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29792" y="2228640"/>
            <a:ext cx="220674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”FREE”,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”Win”,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Links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48186" y="2722674"/>
            <a:ext cx="337784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36603" y="726958"/>
            <a:ext cx="178175" cy="1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30773" y="746008"/>
            <a:ext cx="751361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Has”FREE”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819199" y="726958"/>
            <a:ext cx="1491948" cy="1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”Win”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Many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433677" y="746008"/>
            <a:ext cx="548450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Spam?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Not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76132" y="904570"/>
            <a:ext cx="64532" cy="11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1 2 3 4 5 6 7 8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51304" y="904570"/>
            <a:ext cx="182147" cy="11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No No No Yes No No Yes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858538" y="904570"/>
            <a:ext cx="182147" cy="11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No Yes No No Yes No Yes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7/18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679697"/>
            <a:ext cx="4737097" cy="850897"/>
            <a:chOff x="0" y="0"/>
            <a:chExt cx="6316129" cy="1134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16091" cy="1134491"/>
            </a:xfrm>
            <a:custGeom>
              <a:avLst/>
              <a:gdLst/>
              <a:ahLst/>
              <a:cxnLst/>
              <a:rect r="r" b="b" t="t" l="l"/>
              <a:pathLst>
                <a:path h="1134491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1134491"/>
                  </a:lnTo>
                  <a:lnTo>
                    <a:pt x="0" y="1134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8154" y="688391"/>
            <a:ext cx="2451697" cy="1508655"/>
            <a:chOff x="0" y="0"/>
            <a:chExt cx="2451697" cy="15086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040" y="63500"/>
              <a:ext cx="2319655" cy="5080"/>
            </a:xfrm>
            <a:custGeom>
              <a:avLst/>
              <a:gdLst/>
              <a:ahLst/>
              <a:cxnLst/>
              <a:rect r="r" b="b" t="t" l="l"/>
              <a:pathLst>
                <a:path h="5080" w="2319655">
                  <a:moveTo>
                    <a:pt x="0" y="0"/>
                  </a:moveTo>
                  <a:lnTo>
                    <a:pt x="2319655" y="0"/>
                  </a:lnTo>
                  <a:lnTo>
                    <a:pt x="231965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57632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4611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4645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26971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83155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6040" y="220345"/>
              <a:ext cx="2319655" cy="5080"/>
            </a:xfrm>
            <a:custGeom>
              <a:avLst/>
              <a:gdLst/>
              <a:ahLst/>
              <a:cxnLst/>
              <a:rect r="r" b="b" t="t" l="l"/>
              <a:pathLst>
                <a:path h="5080" w="2319655">
                  <a:moveTo>
                    <a:pt x="0" y="0"/>
                  </a:moveTo>
                  <a:lnTo>
                    <a:pt x="2319655" y="0"/>
                  </a:lnTo>
                  <a:lnTo>
                    <a:pt x="231965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57632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24611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4645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926971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383155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57632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24611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34645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26971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383155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57632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24611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34645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926971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383155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57632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824611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34645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926971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383155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57632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824611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34645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926971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383155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3500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57632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824611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34645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926971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383155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3500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357632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824611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346454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926971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383155" y="1136396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3500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57632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824611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346454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926971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383155" y="1288288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6040" y="1440053"/>
              <a:ext cx="2319655" cy="5080"/>
            </a:xfrm>
            <a:custGeom>
              <a:avLst/>
              <a:gdLst/>
              <a:ahLst/>
              <a:cxnLst/>
              <a:rect r="r" b="b" t="t" l="l"/>
              <a:pathLst>
                <a:path h="5080" w="2319655">
                  <a:moveTo>
                    <a:pt x="0" y="0"/>
                  </a:moveTo>
                  <a:lnTo>
                    <a:pt x="2319655" y="0"/>
                  </a:lnTo>
                  <a:lnTo>
                    <a:pt x="231965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08004" y="65522"/>
            <a:ext cx="2263835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 3: Disease Diagnosis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541" y="452952"/>
            <a:ext cx="54988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8541" y="2246814"/>
            <a:ext cx="855745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Patient: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8541" y="2454888"/>
            <a:ext cx="1534839" cy="69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Vote:</a:t>
            </a:r>
          </a:p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</a:t>
            </a:r>
          </a:p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Sick,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Healthy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74244" y="2958151"/>
            <a:ext cx="340347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SICK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9169" y="454771"/>
            <a:ext cx="190514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Patient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symptoms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diagnosis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254053" y="2959970"/>
            <a:ext cx="60016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(Majority)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39158" y="2248633"/>
            <a:ext cx="227900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Fever=High,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Cough=No,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Fatigue=Yes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34155" y="2456707"/>
            <a:ext cx="131383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20086" y="766001"/>
            <a:ext cx="145190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1 2 3 4 5 6 7 8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514275" y="766001"/>
            <a:ext cx="319345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Fever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 None High Mild High None Mild None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981190" y="766001"/>
            <a:ext cx="377485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Cough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No Yes 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Yes Yes No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503103" y="766001"/>
            <a:ext cx="437121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Fatigue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83547" y="766001"/>
            <a:ext cx="310458" cy="13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Sick?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</a:t>
            </a:r>
            <a:r>
              <a:rPr lang="en-US" sz="996" spc="2">
                <a:solidFill>
                  <a:srgbClr val="00FF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 </a:t>
            </a:r>
            <a:r>
              <a:rPr lang="en-US" sz="996" spc="2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89421" y="2995479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8/18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7591" y="740283"/>
            <a:ext cx="3372831" cy="1204989"/>
            <a:chOff x="0" y="0"/>
            <a:chExt cx="3372828" cy="12049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6040" y="63500"/>
              <a:ext cx="3240786" cy="5080"/>
            </a:xfrm>
            <a:custGeom>
              <a:avLst/>
              <a:gdLst/>
              <a:ahLst/>
              <a:cxnLst/>
              <a:rect r="r" b="b" t="t" l="l"/>
              <a:pathLst>
                <a:path h="5080" w="3240786">
                  <a:moveTo>
                    <a:pt x="0" y="0"/>
                  </a:moveTo>
                  <a:lnTo>
                    <a:pt x="3240786" y="0"/>
                  </a:lnTo>
                  <a:lnTo>
                    <a:pt x="3240786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7622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09649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160397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811526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304286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040" y="220345"/>
              <a:ext cx="3240786" cy="5080"/>
            </a:xfrm>
            <a:custGeom>
              <a:avLst/>
              <a:gdLst/>
              <a:ahLst/>
              <a:cxnLst/>
              <a:rect r="r" b="b" t="t" l="l"/>
              <a:pathLst>
                <a:path h="5080" w="3240786">
                  <a:moveTo>
                    <a:pt x="0" y="0"/>
                  </a:moveTo>
                  <a:lnTo>
                    <a:pt x="3240786" y="0"/>
                  </a:lnTo>
                  <a:lnTo>
                    <a:pt x="3240786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7622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09649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160397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811526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04286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7622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09649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160397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811526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304286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7622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509649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160397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811526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304286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77622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09649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160397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811526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304286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77622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509649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160397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811526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304286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77622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509649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160397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811526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304286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6040" y="1136396"/>
              <a:ext cx="3240786" cy="5080"/>
            </a:xfrm>
            <a:custGeom>
              <a:avLst/>
              <a:gdLst/>
              <a:ahLst/>
              <a:cxnLst/>
              <a:rect r="r" b="b" t="t" l="l"/>
              <a:pathLst>
                <a:path h="5080" w="3240786">
                  <a:moveTo>
                    <a:pt x="0" y="0"/>
                  </a:moveTo>
                  <a:lnTo>
                    <a:pt x="3240786" y="0"/>
                  </a:lnTo>
                  <a:lnTo>
                    <a:pt x="3240786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8004" y="65522"/>
            <a:ext cx="268693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Regression Example 1: House Price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8541" y="504844"/>
            <a:ext cx="54988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541" y="1995049"/>
            <a:ext cx="785832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House: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541" y="2203123"/>
            <a:ext cx="1973142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Different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Prices: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2659" y="2850652"/>
            <a:ext cx="1716329" cy="2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Average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=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$324,000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9169" y="506663"/>
            <a:ext cx="183246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House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selling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prices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0483" y="1996869"/>
            <a:ext cx="219122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Size=1600,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Beds=3,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Age=12,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Urban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56869" y="2471623"/>
            <a:ext cx="892131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Tree1:$320K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883226" y="2471623"/>
            <a:ext cx="892131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Tree2:$340K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909592" y="2490883"/>
            <a:ext cx="41531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Tree3: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0028" y="2643702"/>
            <a:ext cx="892131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$350K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396385" y="2643702"/>
            <a:ext cx="858374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$315K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378270" y="2482539"/>
            <a:ext cx="380314" cy="19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$295K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59523" y="817893"/>
            <a:ext cx="572091" cy="10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Size(sqft)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1500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2000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1200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2500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1400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72222" y="817893"/>
            <a:ext cx="593284" cy="10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Bedro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oms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205647" y="817893"/>
            <a:ext cx="508978" cy="10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Age(yrs)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856481" y="817893"/>
            <a:ext cx="509178" cy="10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cation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Urban Suburb Rural Urban Suburb Urban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530584" y="798843"/>
            <a:ext cx="300780" cy="1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570827" y="976446"/>
            <a:ext cx="283197" cy="89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300K 450K 180K 350K 520K 280K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507572" y="968588"/>
            <a:ext cx="64513" cy="90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5"/>
              </a:lnSpc>
            </a:pPr>
            <a:r>
              <a:rPr lang="en-US" sz="996" spc="-3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 $ $ $ $ $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325426" y="3349581"/>
            <a:ext cx="21938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9/18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8284" y="737206"/>
            <a:ext cx="3571427" cy="1204989"/>
            <a:chOff x="0" y="0"/>
            <a:chExt cx="3571430" cy="12049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6040" y="63500"/>
              <a:ext cx="3439414" cy="5080"/>
            </a:xfrm>
            <a:custGeom>
              <a:avLst/>
              <a:gdLst/>
              <a:ahLst/>
              <a:cxnLst/>
              <a:rect r="r" b="b" t="t" l="l"/>
              <a:pathLst>
                <a:path h="5080" w="3439414">
                  <a:moveTo>
                    <a:pt x="0" y="0"/>
                  </a:moveTo>
                  <a:lnTo>
                    <a:pt x="3439414" y="0"/>
                  </a:lnTo>
                  <a:lnTo>
                    <a:pt x="3439414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1726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8295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97761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81046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02914" y="68580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040" y="220345"/>
              <a:ext cx="3439414" cy="5080"/>
            </a:xfrm>
            <a:custGeom>
              <a:avLst/>
              <a:gdLst/>
              <a:ahLst/>
              <a:cxnLst/>
              <a:rect r="r" b="b" t="t" l="l"/>
              <a:pathLst>
                <a:path h="5080" w="3439414">
                  <a:moveTo>
                    <a:pt x="0" y="0"/>
                  </a:moveTo>
                  <a:lnTo>
                    <a:pt x="3439414" y="0"/>
                  </a:lnTo>
                  <a:lnTo>
                    <a:pt x="3439414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01726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8295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97761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81046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502914" y="225425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01726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8295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97761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81046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502914" y="377317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01726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28295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97761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781046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502914" y="529082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01726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8295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97761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81046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502914" y="680974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01726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8295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897761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81046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02914" y="832739"/>
              <a:ext cx="5080" cy="151892"/>
            </a:xfrm>
            <a:custGeom>
              <a:avLst/>
              <a:gdLst/>
              <a:ahLst/>
              <a:cxnLst/>
              <a:rect r="r" b="b" t="t" l="l"/>
              <a:pathLst>
                <a:path h="151892" w="5080">
                  <a:moveTo>
                    <a:pt x="0" y="15189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8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01726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8295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897761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781046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502914" y="984631"/>
              <a:ext cx="5080" cy="151765"/>
            </a:xfrm>
            <a:custGeom>
              <a:avLst/>
              <a:gdLst/>
              <a:ahLst/>
              <a:cxnLst/>
              <a:rect r="r" b="b" t="t" l="l"/>
              <a:pathLst>
                <a:path h="151765" w="5080">
                  <a:moveTo>
                    <a:pt x="0" y="15176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5176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6040" y="1136396"/>
              <a:ext cx="3439414" cy="5080"/>
            </a:xfrm>
            <a:custGeom>
              <a:avLst/>
              <a:gdLst/>
              <a:ahLst/>
              <a:cxnLst/>
              <a:rect r="r" b="b" t="t" l="l"/>
              <a:pathLst>
                <a:path h="5080" w="3439414">
                  <a:moveTo>
                    <a:pt x="0" y="0"/>
                  </a:moveTo>
                  <a:lnTo>
                    <a:pt x="3439414" y="0"/>
                  </a:lnTo>
                  <a:lnTo>
                    <a:pt x="3439414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8004" y="65522"/>
            <a:ext cx="3574437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Regression Example 2: Temperature Prediction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8541" y="501767"/>
            <a:ext cx="54988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541" y="1999659"/>
            <a:ext cx="63746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Day: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541" y="2207733"/>
            <a:ext cx="1273207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Predicts: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87109" y="2855271"/>
            <a:ext cx="1054408" cy="2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Average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=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25°C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9169" y="503587"/>
            <a:ext cx="216372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Weather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conditions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temperature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6726" y="2476252"/>
            <a:ext cx="790232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26°C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933184" y="2476252"/>
            <a:ext cx="790232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24°C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859634" y="2476252"/>
            <a:ext cx="756466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27°C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69946" y="2648321"/>
            <a:ext cx="790232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25°C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396404" y="2648321"/>
            <a:ext cx="756466" cy="21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23°C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5160" y="2001479"/>
            <a:ext cx="306503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Month=May,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Humidity=55%,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Cloud=45,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Wind=10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60225" y="814807"/>
            <a:ext cx="394164" cy="105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Jan Mar Jun Apr Jul Feb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98483" y="814807"/>
            <a:ext cx="537867" cy="105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Humidity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60%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45%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70%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50%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75%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55%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79625" y="795757"/>
            <a:ext cx="1373200" cy="1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Cloud%</a:t>
            </a:r>
            <a:r>
              <a:rPr lang="en-US" sz="996" spc="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Wind(km/h)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377717" y="795833"/>
            <a:ext cx="581425" cy="107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Temp(°C)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22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</a:t>
            </a:r>
          </a:p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047875" y="973360"/>
            <a:ext cx="129054" cy="8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80 30 60 40 50 70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96921" y="973360"/>
            <a:ext cx="129054" cy="8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15 10 8 12 5 20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927097"/>
            <a:ext cx="76200" cy="88897"/>
            <a:chOff x="0" y="0"/>
            <a:chExt cx="101600" cy="118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18491"/>
            </a:xfrm>
            <a:custGeom>
              <a:avLst/>
              <a:gdLst/>
              <a:ahLst/>
              <a:cxnLst/>
              <a:rect r="r" b="b" t="t" l="l"/>
              <a:pathLst>
                <a:path h="11849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1143000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2578103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9397" y="2793997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6003" y="1587503"/>
            <a:ext cx="2578103" cy="838200"/>
            <a:chOff x="0" y="0"/>
            <a:chExt cx="3437471" cy="111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37509" cy="1117600"/>
            </a:xfrm>
            <a:custGeom>
              <a:avLst/>
              <a:gdLst/>
              <a:ahLst/>
              <a:cxnLst/>
              <a:rect r="r" b="b" t="t" l="l"/>
              <a:pathLst>
                <a:path h="1117600" w="3437509">
                  <a:moveTo>
                    <a:pt x="0" y="0"/>
                  </a:moveTo>
                  <a:lnTo>
                    <a:pt x="3437509" y="0"/>
                  </a:lnTo>
                  <a:lnTo>
                    <a:pt x="3437509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004" y="65522"/>
            <a:ext cx="2857129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Idea 1: Bagging (Different Data)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41" y="1353674"/>
            <a:ext cx="588836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5349" y="1632642"/>
            <a:ext cx="47066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5554" y="1651692"/>
            <a:ext cx="1636166" cy="69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Rows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Selected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[1,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10] [2,4,6,8,1,3,7,9,5,5] [5,1,9,3,7,2,8,6,4,5]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541" y="651567"/>
            <a:ext cx="325850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Bootstrap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=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Random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Replacement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8392" y="1830648"/>
            <a:ext cx="579749" cy="51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Sample2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Sample3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633" y="2499608"/>
            <a:ext cx="2475186" cy="40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Row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appears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twice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Row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(used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testing!)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5633" y="853897"/>
            <a:ext cx="3231118" cy="40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Take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randomly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(some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rows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repeat,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some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left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out) 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slightly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7354" y="1355493"/>
            <a:ext cx="96647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Original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rows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723900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927097"/>
            <a:ext cx="76200" cy="88897"/>
            <a:chOff x="0" y="0"/>
            <a:chExt cx="101600" cy="118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18491"/>
            </a:xfrm>
            <a:custGeom>
              <a:avLst/>
              <a:gdLst/>
              <a:ahLst/>
              <a:cxnLst/>
              <a:rect r="r" b="b" t="t" l="l"/>
              <a:pathLst>
                <a:path h="11849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1143000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2705100"/>
            <a:ext cx="4737097" cy="825503"/>
            <a:chOff x="0" y="0"/>
            <a:chExt cx="6316129" cy="1100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16091" cy="1100709"/>
            </a:xfrm>
            <a:custGeom>
              <a:avLst/>
              <a:gdLst/>
              <a:ahLst/>
              <a:cxnLst/>
              <a:rect r="r" b="b" t="t" l="l"/>
              <a:pathLst>
                <a:path h="1100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1100709"/>
                  </a:lnTo>
                  <a:lnTo>
                    <a:pt x="0" y="110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1100" y="1587503"/>
            <a:ext cx="2247900" cy="1003297"/>
            <a:chOff x="0" y="0"/>
            <a:chExt cx="2997200" cy="1337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97200" cy="1337691"/>
            </a:xfrm>
            <a:custGeom>
              <a:avLst/>
              <a:gdLst/>
              <a:ahLst/>
              <a:cxnLst/>
              <a:rect r="r" b="b" t="t" l="l"/>
              <a:pathLst>
                <a:path h="1337691" w="2997200">
                  <a:moveTo>
                    <a:pt x="0" y="0"/>
                  </a:moveTo>
                  <a:lnTo>
                    <a:pt x="2997200" y="0"/>
                  </a:lnTo>
                  <a:lnTo>
                    <a:pt x="2997200" y="1337691"/>
                  </a:lnTo>
                  <a:lnTo>
                    <a:pt x="0" y="1337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004" y="65522"/>
            <a:ext cx="2268169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Idea 2: Random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541" y="1352721"/>
            <a:ext cx="588836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6575" y="1650740"/>
            <a:ext cx="376057" cy="8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 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 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41" y="440579"/>
            <a:ext cx="2342607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looks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different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7088" y="1650740"/>
            <a:ext cx="1462964" cy="8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Considered</a:t>
            </a:r>
          </a:p>
          <a:p>
            <a:pPr algn="ctr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 Age,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Job Income,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 Student,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Job,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5633" y="642909"/>
            <a:ext cx="2914650" cy="61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Have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(Age,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etc.) 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split: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randomly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few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</a:p>
          <a:p>
            <a:pPr algn="l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chooses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best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among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those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541" y="2986211"/>
            <a:ext cx="3680050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think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differently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together!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41" y="2776880"/>
            <a:ext cx="361093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Why?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1828800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2031997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2247900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97" y="2489197"/>
            <a:ext cx="4622797" cy="609600"/>
            <a:chOff x="0" y="0"/>
            <a:chExt cx="6163729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63691" cy="812800"/>
            </a:xfrm>
            <a:custGeom>
              <a:avLst/>
              <a:gdLst/>
              <a:ahLst/>
              <a:cxnLst/>
              <a:rect r="r" b="b" t="t" l="l"/>
              <a:pathLst>
                <a:path h="812800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944" y="902856"/>
            <a:ext cx="3372098" cy="492061"/>
            <a:chOff x="0" y="0"/>
            <a:chExt cx="3372104" cy="4920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6040" y="65913"/>
              <a:ext cx="3240153" cy="360169"/>
            </a:xfrm>
            <a:custGeom>
              <a:avLst/>
              <a:gdLst/>
              <a:ahLst/>
              <a:cxnLst/>
              <a:rect r="r" b="b" t="t" l="l"/>
              <a:pathLst>
                <a:path h="360169" w="3240153">
                  <a:moveTo>
                    <a:pt x="3189480" y="127"/>
                  </a:moveTo>
                  <a:lnTo>
                    <a:pt x="50546" y="127"/>
                  </a:lnTo>
                  <a:cubicBezTo>
                    <a:pt x="22606" y="127"/>
                    <a:pt x="0" y="22732"/>
                    <a:pt x="0" y="50672"/>
                  </a:cubicBezTo>
                  <a:lnTo>
                    <a:pt x="0" y="309496"/>
                  </a:lnTo>
                  <a:cubicBezTo>
                    <a:pt x="0" y="337436"/>
                    <a:pt x="22606" y="360169"/>
                    <a:pt x="50673" y="360169"/>
                  </a:cubicBezTo>
                  <a:lnTo>
                    <a:pt x="3189480" y="360169"/>
                  </a:lnTo>
                  <a:cubicBezTo>
                    <a:pt x="3217420" y="360169"/>
                    <a:pt x="3240153" y="337563"/>
                    <a:pt x="3240153" y="309496"/>
                  </a:cubicBezTo>
                  <a:lnTo>
                    <a:pt x="3240153" y="50672"/>
                  </a:lnTo>
                  <a:cubicBezTo>
                    <a:pt x="3240153" y="22732"/>
                    <a:pt x="3217546" y="0"/>
                    <a:pt x="3189480" y="0"/>
                  </a:cubicBezTo>
                  <a:close/>
                </a:path>
              </a:pathLst>
            </a:custGeom>
            <a:solidFill>
              <a:srgbClr val="E6E6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245105" cy="364996"/>
            </a:xfrm>
            <a:custGeom>
              <a:avLst/>
              <a:gdLst/>
              <a:ahLst/>
              <a:cxnLst/>
              <a:rect r="r" b="b" t="t" l="l"/>
              <a:pathLst>
                <a:path h="364996" w="3245105">
                  <a:moveTo>
                    <a:pt x="3192020" y="5080"/>
                  </a:moveTo>
                  <a:lnTo>
                    <a:pt x="53086" y="5080"/>
                  </a:lnTo>
                  <a:lnTo>
                    <a:pt x="53086" y="2540"/>
                  </a:lnTo>
                  <a:lnTo>
                    <a:pt x="53086" y="5080"/>
                  </a:lnTo>
                  <a:cubicBezTo>
                    <a:pt x="26543" y="5080"/>
                    <a:pt x="5080" y="26542"/>
                    <a:pt x="5080" y="53085"/>
                  </a:cubicBezTo>
                  <a:lnTo>
                    <a:pt x="2540" y="53085"/>
                  </a:lnTo>
                  <a:lnTo>
                    <a:pt x="5080" y="53085"/>
                  </a:lnTo>
                  <a:lnTo>
                    <a:pt x="5080" y="311909"/>
                  </a:lnTo>
                  <a:lnTo>
                    <a:pt x="2540" y="311909"/>
                  </a:lnTo>
                  <a:lnTo>
                    <a:pt x="5080" y="311909"/>
                  </a:lnTo>
                  <a:cubicBezTo>
                    <a:pt x="5080" y="338452"/>
                    <a:pt x="26543" y="360042"/>
                    <a:pt x="53213" y="360042"/>
                  </a:cubicBezTo>
                  <a:lnTo>
                    <a:pt x="53213" y="362582"/>
                  </a:lnTo>
                  <a:lnTo>
                    <a:pt x="53213" y="360042"/>
                  </a:lnTo>
                  <a:lnTo>
                    <a:pt x="3192020" y="360042"/>
                  </a:lnTo>
                  <a:lnTo>
                    <a:pt x="3192020" y="362582"/>
                  </a:lnTo>
                  <a:lnTo>
                    <a:pt x="3192020" y="360042"/>
                  </a:lnTo>
                  <a:cubicBezTo>
                    <a:pt x="3218562" y="360042"/>
                    <a:pt x="3240153" y="338579"/>
                    <a:pt x="3240153" y="311909"/>
                  </a:cubicBezTo>
                  <a:lnTo>
                    <a:pt x="3242693" y="311909"/>
                  </a:lnTo>
                  <a:lnTo>
                    <a:pt x="3240153" y="311909"/>
                  </a:lnTo>
                  <a:lnTo>
                    <a:pt x="3240153" y="53085"/>
                  </a:lnTo>
                  <a:lnTo>
                    <a:pt x="3242693" y="53085"/>
                  </a:lnTo>
                  <a:lnTo>
                    <a:pt x="3240153" y="53085"/>
                  </a:lnTo>
                  <a:cubicBezTo>
                    <a:pt x="3240153" y="26542"/>
                    <a:pt x="3218690" y="4953"/>
                    <a:pt x="3192020" y="4953"/>
                  </a:cubicBezTo>
                  <a:lnTo>
                    <a:pt x="3192020" y="2540"/>
                  </a:lnTo>
                  <a:lnTo>
                    <a:pt x="3192020" y="5080"/>
                  </a:lnTo>
                  <a:moveTo>
                    <a:pt x="3192020" y="0"/>
                  </a:moveTo>
                  <a:cubicBezTo>
                    <a:pt x="3221356" y="0"/>
                    <a:pt x="3245105" y="23748"/>
                    <a:pt x="3245105" y="53085"/>
                  </a:cubicBezTo>
                  <a:lnTo>
                    <a:pt x="3245105" y="311909"/>
                  </a:lnTo>
                  <a:cubicBezTo>
                    <a:pt x="3245105" y="341246"/>
                    <a:pt x="3221356" y="364995"/>
                    <a:pt x="3192020" y="364995"/>
                  </a:cubicBezTo>
                  <a:lnTo>
                    <a:pt x="53086" y="364995"/>
                  </a:lnTo>
                  <a:cubicBezTo>
                    <a:pt x="23749" y="365122"/>
                    <a:pt x="0" y="341246"/>
                    <a:pt x="0" y="311909"/>
                  </a:cubicBezTo>
                  <a:lnTo>
                    <a:pt x="0" y="53085"/>
                  </a:lnTo>
                  <a:cubicBezTo>
                    <a:pt x="0" y="23748"/>
                    <a:pt x="23749" y="0"/>
                    <a:pt x="53086" y="0"/>
                  </a:cubicBezTo>
                  <a:lnTo>
                    <a:pt x="319202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8004" y="65522"/>
            <a:ext cx="3142955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Classification: Categories (Majority Vote)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541" y="587740"/>
            <a:ext cx="50756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Output: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541" y="1543907"/>
            <a:ext cx="64843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5633" y="1753943"/>
            <a:ext cx="1090555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Spam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5633" y="1963960"/>
            <a:ext cx="96897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Buy: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633" y="2173996"/>
            <a:ext cx="52940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Disease: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1465" y="2211314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792" y="1038063"/>
            <a:ext cx="1958502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votes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32128" y="1038063"/>
            <a:ext cx="92214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Majority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wins!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7273" y="1753943"/>
            <a:ext cx="36232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61490" y="1963960"/>
            <a:ext cx="189986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98736" y="2173996"/>
            <a:ext cx="26654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7668" y="589559"/>
            <a:ext cx="268621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Category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(Spam/Not,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Yes/No,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Sick/Healthy)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6317" y="1755762"/>
            <a:ext cx="39680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81610" y="1791262"/>
            <a:ext cx="152459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→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7131" y="1965779"/>
            <a:ext cx="39680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62423" y="2001279"/>
            <a:ext cx="139547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→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says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6163" y="2175815"/>
            <a:ext cx="43070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6278" y="2175815"/>
            <a:ext cx="148067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7saySick,2sayHealthy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541" y="2765498"/>
            <a:ext cx="3604012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Count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category,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votes!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42743" y="1075382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22583" y="1791262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276667" y="2001279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114056" y="2211314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541" y="2556158"/>
            <a:ext cx="749618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Rule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1727197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1930403"/>
            <a:ext cx="76200" cy="88897"/>
            <a:chOff x="0" y="0"/>
            <a:chExt cx="101600" cy="118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18491"/>
            </a:xfrm>
            <a:custGeom>
              <a:avLst/>
              <a:gdLst/>
              <a:ahLst/>
              <a:cxnLst/>
              <a:rect r="r" b="b" t="t" l="l"/>
              <a:pathLst>
                <a:path h="118491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18491"/>
                  </a:lnTo>
                  <a:lnTo>
                    <a:pt x="0" y="118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2222497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9397" y="2425703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97" y="2641597"/>
            <a:ext cx="4622797" cy="609600"/>
            <a:chOff x="0" y="0"/>
            <a:chExt cx="6163729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63691" cy="812800"/>
            </a:xfrm>
            <a:custGeom>
              <a:avLst/>
              <a:gdLst/>
              <a:ahLst/>
              <a:cxnLst/>
              <a:rect r="r" b="b" t="t" l="l"/>
              <a:pathLst>
                <a:path h="812800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237" y="803662"/>
            <a:ext cx="3401511" cy="492061"/>
            <a:chOff x="0" y="0"/>
            <a:chExt cx="3401505" cy="4920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6040" y="65913"/>
              <a:ext cx="3269483" cy="360169"/>
            </a:xfrm>
            <a:custGeom>
              <a:avLst/>
              <a:gdLst/>
              <a:ahLst/>
              <a:cxnLst/>
              <a:rect r="r" b="b" t="t" l="l"/>
              <a:pathLst>
                <a:path h="360169" w="3269483">
                  <a:moveTo>
                    <a:pt x="3218810" y="127"/>
                  </a:moveTo>
                  <a:lnTo>
                    <a:pt x="50546" y="127"/>
                  </a:lnTo>
                  <a:cubicBezTo>
                    <a:pt x="22606" y="127"/>
                    <a:pt x="0" y="22732"/>
                    <a:pt x="0" y="50672"/>
                  </a:cubicBezTo>
                  <a:lnTo>
                    <a:pt x="0" y="309496"/>
                  </a:lnTo>
                  <a:cubicBezTo>
                    <a:pt x="0" y="337436"/>
                    <a:pt x="22606" y="360169"/>
                    <a:pt x="50673" y="360169"/>
                  </a:cubicBezTo>
                  <a:lnTo>
                    <a:pt x="3218810" y="360169"/>
                  </a:lnTo>
                  <a:cubicBezTo>
                    <a:pt x="3246750" y="360169"/>
                    <a:pt x="3269483" y="337563"/>
                    <a:pt x="3269483" y="309496"/>
                  </a:cubicBezTo>
                  <a:lnTo>
                    <a:pt x="3269483" y="50672"/>
                  </a:lnTo>
                  <a:cubicBezTo>
                    <a:pt x="3269483" y="22732"/>
                    <a:pt x="3246877" y="0"/>
                    <a:pt x="3218810" y="0"/>
                  </a:cubicBezTo>
                  <a:close/>
                </a:path>
              </a:pathLst>
            </a:custGeom>
            <a:solidFill>
              <a:srgbClr val="E6FFE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3274436" cy="364996"/>
            </a:xfrm>
            <a:custGeom>
              <a:avLst/>
              <a:gdLst/>
              <a:ahLst/>
              <a:cxnLst/>
              <a:rect r="r" b="b" t="t" l="l"/>
              <a:pathLst>
                <a:path h="364996" w="3274436">
                  <a:moveTo>
                    <a:pt x="3221350" y="5080"/>
                  </a:moveTo>
                  <a:lnTo>
                    <a:pt x="53086" y="5080"/>
                  </a:lnTo>
                  <a:lnTo>
                    <a:pt x="53086" y="2540"/>
                  </a:lnTo>
                  <a:lnTo>
                    <a:pt x="53086" y="5080"/>
                  </a:lnTo>
                  <a:cubicBezTo>
                    <a:pt x="26543" y="5080"/>
                    <a:pt x="5080" y="26542"/>
                    <a:pt x="5080" y="53085"/>
                  </a:cubicBezTo>
                  <a:lnTo>
                    <a:pt x="2540" y="53085"/>
                  </a:lnTo>
                  <a:lnTo>
                    <a:pt x="5080" y="53085"/>
                  </a:lnTo>
                  <a:lnTo>
                    <a:pt x="5080" y="311909"/>
                  </a:lnTo>
                  <a:lnTo>
                    <a:pt x="2540" y="311909"/>
                  </a:lnTo>
                  <a:lnTo>
                    <a:pt x="5080" y="311909"/>
                  </a:lnTo>
                  <a:cubicBezTo>
                    <a:pt x="5080" y="338452"/>
                    <a:pt x="26543" y="360042"/>
                    <a:pt x="53213" y="360042"/>
                  </a:cubicBezTo>
                  <a:lnTo>
                    <a:pt x="53213" y="362582"/>
                  </a:lnTo>
                  <a:lnTo>
                    <a:pt x="53213" y="360042"/>
                  </a:lnTo>
                  <a:lnTo>
                    <a:pt x="3221350" y="360042"/>
                  </a:lnTo>
                  <a:lnTo>
                    <a:pt x="3221350" y="362582"/>
                  </a:lnTo>
                  <a:lnTo>
                    <a:pt x="3221350" y="360042"/>
                  </a:lnTo>
                  <a:cubicBezTo>
                    <a:pt x="3247893" y="360042"/>
                    <a:pt x="3269483" y="338579"/>
                    <a:pt x="3269483" y="311909"/>
                  </a:cubicBezTo>
                  <a:lnTo>
                    <a:pt x="3272023" y="311909"/>
                  </a:lnTo>
                  <a:lnTo>
                    <a:pt x="3269483" y="311909"/>
                  </a:lnTo>
                  <a:lnTo>
                    <a:pt x="3269483" y="53085"/>
                  </a:lnTo>
                  <a:lnTo>
                    <a:pt x="3272023" y="53085"/>
                  </a:lnTo>
                  <a:lnTo>
                    <a:pt x="3269483" y="53085"/>
                  </a:lnTo>
                  <a:cubicBezTo>
                    <a:pt x="3269483" y="26542"/>
                    <a:pt x="3248020" y="4953"/>
                    <a:pt x="3221350" y="4953"/>
                  </a:cubicBezTo>
                  <a:lnTo>
                    <a:pt x="3221350" y="2540"/>
                  </a:lnTo>
                  <a:lnTo>
                    <a:pt x="3221350" y="5080"/>
                  </a:lnTo>
                  <a:moveTo>
                    <a:pt x="3221350" y="0"/>
                  </a:moveTo>
                  <a:cubicBezTo>
                    <a:pt x="3250687" y="0"/>
                    <a:pt x="3274436" y="23748"/>
                    <a:pt x="3274436" y="53085"/>
                  </a:cubicBezTo>
                  <a:lnTo>
                    <a:pt x="3274436" y="311909"/>
                  </a:lnTo>
                  <a:cubicBezTo>
                    <a:pt x="3274436" y="341246"/>
                    <a:pt x="3250687" y="364995"/>
                    <a:pt x="3221350" y="364995"/>
                  </a:cubicBezTo>
                  <a:lnTo>
                    <a:pt x="53086" y="364995"/>
                  </a:lnTo>
                  <a:cubicBezTo>
                    <a:pt x="23749" y="365122"/>
                    <a:pt x="0" y="341246"/>
                    <a:pt x="0" y="311909"/>
                  </a:cubicBezTo>
                  <a:lnTo>
                    <a:pt x="0" y="53085"/>
                  </a:lnTo>
                  <a:cubicBezTo>
                    <a:pt x="0" y="23748"/>
                    <a:pt x="23749" y="0"/>
                    <a:pt x="53086" y="0"/>
                  </a:cubicBezTo>
                  <a:lnTo>
                    <a:pt x="322135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65522"/>
            <a:ext cx="2412825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Regression: Numbers (Average)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541" y="488537"/>
            <a:ext cx="50756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Output: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41" y="1444704"/>
            <a:ext cx="64843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633" y="1654740"/>
            <a:ext cx="82550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House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5633" y="1863681"/>
            <a:ext cx="1263386" cy="19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Average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324,000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5633" y="2148754"/>
            <a:ext cx="883358" cy="41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Temperature:</a:t>
            </a:r>
          </a:p>
          <a:p>
            <a:pPr algn="r">
              <a:lnSpc>
                <a:spcPts val="1527"/>
              </a:lnSpc>
            </a:pPr>
            <a:r>
              <a:rPr lang="en-US" sz="1090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5633" y="2357695"/>
            <a:ext cx="982675" cy="19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Average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5480" y="938870"/>
            <a:ext cx="1839449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58954" y="938870"/>
            <a:ext cx="115621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Average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them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541" y="2914288"/>
            <a:ext cx="273717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predictions,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divide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number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7668" y="490357"/>
            <a:ext cx="233180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number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(Price,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Temperature,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2490" y="2150574"/>
            <a:ext cx="194116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[26,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24,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27,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23]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6466" y="1656559"/>
            <a:ext cx="2785110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[320K,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340K,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295K,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350K,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315K]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69569" y="976189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8392" y="1857432"/>
            <a:ext cx="77838" cy="19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$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541" y="2704957"/>
            <a:ext cx="749618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Rule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" y="977903"/>
            <a:ext cx="254003" cy="444503"/>
            <a:chOff x="0" y="0"/>
            <a:chExt cx="338671" cy="59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592709"/>
            </a:xfrm>
            <a:custGeom>
              <a:avLst/>
              <a:gdLst/>
              <a:ahLst/>
              <a:cxnLst/>
              <a:rect r="r" b="b" t="t" l="l"/>
              <a:pathLst>
                <a:path h="592709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592709"/>
                  </a:lnTo>
                  <a:lnTo>
                    <a:pt x="0" y="592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1" b="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2387603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2590800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5300" y="1384297"/>
            <a:ext cx="203197" cy="647700"/>
            <a:chOff x="0" y="0"/>
            <a:chExt cx="270929" cy="863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891" cy="863600"/>
            </a:xfrm>
            <a:custGeom>
              <a:avLst/>
              <a:gdLst/>
              <a:ahLst/>
              <a:cxnLst/>
              <a:rect r="r" b="b" t="t" l="l"/>
              <a:pathLst>
                <a:path h="863600" w="270891">
                  <a:moveTo>
                    <a:pt x="0" y="0"/>
                  </a:moveTo>
                  <a:lnTo>
                    <a:pt x="270891" y="0"/>
                  </a:lnTo>
                  <a:lnTo>
                    <a:pt x="270891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004" y="65522"/>
            <a:ext cx="1522943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 Algorithm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541" y="787136"/>
            <a:ext cx="197874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Building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Forest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(Training):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41" y="2101625"/>
            <a:ext cx="212598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Making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Predictions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(New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Data):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633" y="2311660"/>
            <a:ext cx="97757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Categories: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5633" y="2521696"/>
            <a:ext cx="885092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Numbers: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4614" y="1048531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4614" y="1238317"/>
            <a:ext cx="4113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370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/ 18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5633" y="1008517"/>
            <a:ext cx="1845335" cy="3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Start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  <a:p>
            <a:pPr algn="l">
              <a:lnSpc>
                <a:spcPts val="149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(build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trees):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551" y="2313480"/>
            <a:ext cx="91112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5025" y="2523515"/>
            <a:ext cx="106223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59768" y="2313480"/>
            <a:ext cx="79494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17251" y="2523515"/>
            <a:ext cx="77290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Take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average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2734" y="1414005"/>
            <a:ext cx="2213648" cy="59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Take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  <a:p>
            <a:pPr algn="l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split,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randomly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few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 Choose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best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split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</a:p>
          <a:p>
            <a:pPr algn="l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Grow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75087" y="2348979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32561" y="2559015"/>
            <a:ext cx="14131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19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" y="939803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" y="1143000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1358903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8600" y="1562100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" y="1778003"/>
            <a:ext cx="76200" cy="76200"/>
            <a:chOff x="0" y="0"/>
            <a:chExt cx="101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8600" y="1981200"/>
            <a:ext cx="76200" cy="76200"/>
            <a:chOff x="0" y="0"/>
            <a:chExt cx="101600" cy="10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97" y="2222497"/>
            <a:ext cx="4622797" cy="838200"/>
            <a:chOff x="0" y="0"/>
            <a:chExt cx="6163729" cy="1117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63691" cy="1117600"/>
            </a:xfrm>
            <a:custGeom>
              <a:avLst/>
              <a:gdLst/>
              <a:ahLst/>
              <a:cxnLst/>
              <a:rect r="r" b="b" t="t" l="l"/>
              <a:pathLst>
                <a:path h="1117600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89197" y="939803"/>
            <a:ext cx="76200" cy="76200"/>
            <a:chOff x="0" y="0"/>
            <a:chExt cx="101600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489197" y="1143000"/>
            <a:ext cx="76200" cy="76200"/>
            <a:chOff x="0" y="0"/>
            <a:chExt cx="101600" cy="10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489197" y="1358903"/>
            <a:ext cx="76200" cy="76200"/>
            <a:chOff x="0" y="0"/>
            <a:chExt cx="101600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489197" y="1562100"/>
            <a:ext cx="76200" cy="76200"/>
            <a:chOff x="0" y="0"/>
            <a:chExt cx="1016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489197" y="1778003"/>
            <a:ext cx="76200" cy="76200"/>
            <a:chOff x="0" y="0"/>
            <a:chExt cx="1016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89197" y="1981200"/>
            <a:ext cx="76200" cy="76200"/>
            <a:chOff x="0" y="0"/>
            <a:chExt cx="101600" cy="10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8004" y="65522"/>
            <a:ext cx="182190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 World Applications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364" y="652634"/>
            <a:ext cx="133112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Category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Prediction: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9456" y="862670"/>
            <a:ext cx="402784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9456" y="1063171"/>
            <a:ext cx="568414" cy="4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Medical: Banking: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9456" y="1492768"/>
            <a:ext cx="63828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Shopping: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9456" y="1702794"/>
            <a:ext cx="356445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69456" y="1912830"/>
            <a:ext cx="551517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Face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50189" y="652634"/>
            <a:ext cx="127634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Number</a:t>
            </a:r>
            <a:r>
              <a:rPr lang="en-US" sz="1090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Prediction: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27271" y="862670"/>
            <a:ext cx="78784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Estate: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27271" y="1063171"/>
            <a:ext cx="593274" cy="4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Finance: Weather: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27271" y="1492768"/>
            <a:ext cx="418281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Retail: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627271" y="1693269"/>
            <a:ext cx="264909" cy="4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Car: HR: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5856" y="864489"/>
            <a:ext cx="114584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8626" y="1074515"/>
            <a:ext cx="91153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Sick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Healthy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8238" y="1284551"/>
            <a:ext cx="80475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Fraud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Safe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6742" y="1494587"/>
            <a:ext cx="947214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0421" y="1704613"/>
            <a:ext cx="1065171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Approve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Reject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6291" y="1914649"/>
            <a:ext cx="118837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461175" y="864489"/>
            <a:ext cx="68464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House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17964" y="1074515"/>
            <a:ext cx="65995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Stock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70571" y="1284551"/>
            <a:ext cx="750484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Temperature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98864" y="1494587"/>
            <a:ext cx="80125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Sales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forecast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48645" y="1704613"/>
            <a:ext cx="831447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Fuel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efficiency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23175" y="1914649"/>
            <a:ext cx="98299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Salary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541" y="2502360"/>
            <a:ext cx="2633234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Forest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also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tells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which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matter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most!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5633" y="2712396"/>
            <a:ext cx="4086263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House</a:t>
            </a:r>
            <a:r>
              <a:rPr lang="en-US" sz="1090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price:</a:t>
            </a:r>
            <a:r>
              <a:rPr lang="en-US" sz="1090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Size(40%),</a:t>
            </a:r>
            <a:r>
              <a:rPr lang="en-US" sz="1090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Location(30%),</a:t>
            </a:r>
            <a:r>
              <a:rPr lang="en-US" sz="1090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Bedrooms(20%),</a:t>
            </a:r>
            <a:r>
              <a:rPr lang="en-US" sz="1090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Age(10%)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8541" y="2293029"/>
            <a:ext cx="1729797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Bonus: Feature Importance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3695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285088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397" y="1409700"/>
            <a:ext cx="76200" cy="76200"/>
            <a:chOff x="0" y="0"/>
            <a:chExt cx="1016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9397" y="1625603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9397" y="1828800"/>
            <a:ext cx="76200" cy="76200"/>
            <a:chOff x="0" y="0"/>
            <a:chExt cx="101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9397" y="2044703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9397" y="2247900"/>
            <a:ext cx="76200" cy="76200"/>
            <a:chOff x="0" y="0"/>
            <a:chExt cx="101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4608004" cy="350110"/>
            <a:chOff x="0" y="0"/>
            <a:chExt cx="4608004" cy="350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07941" cy="350139"/>
            </a:xfrm>
            <a:custGeom>
              <a:avLst/>
              <a:gdLst/>
              <a:ahLst/>
              <a:cxnLst/>
              <a:rect r="r" b="b" t="t" l="l"/>
              <a:pathLst>
                <a:path h="350139" w="4607941">
                  <a:moveTo>
                    <a:pt x="0" y="0"/>
                  </a:moveTo>
                  <a:lnTo>
                    <a:pt x="0" y="350139"/>
                  </a:lnTo>
                  <a:lnTo>
                    <a:pt x="4607941" y="350139"/>
                  </a:lnTo>
                  <a:lnTo>
                    <a:pt x="4607941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97" y="495300"/>
            <a:ext cx="4622797" cy="609600"/>
            <a:chOff x="0" y="0"/>
            <a:chExt cx="6163729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3691" cy="812800"/>
            </a:xfrm>
            <a:custGeom>
              <a:avLst/>
              <a:gdLst/>
              <a:ahLst/>
              <a:cxnLst/>
              <a:rect r="r" b="b" t="t" l="l"/>
              <a:pathLst>
                <a:path h="812800" w="6163691">
                  <a:moveTo>
                    <a:pt x="0" y="0"/>
                  </a:moveTo>
                  <a:lnTo>
                    <a:pt x="6163691" y="0"/>
                  </a:lnTo>
                  <a:lnTo>
                    <a:pt x="6163691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503" y="2692403"/>
            <a:ext cx="4610100" cy="444503"/>
            <a:chOff x="0" y="0"/>
            <a:chExt cx="6146800" cy="592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46800" cy="592709"/>
            </a:xfrm>
            <a:custGeom>
              <a:avLst/>
              <a:gdLst/>
              <a:ahLst/>
              <a:cxnLst/>
              <a:rect r="r" b="b" t="t" l="l"/>
              <a:pathLst>
                <a:path h="592709" w="6146800">
                  <a:moveTo>
                    <a:pt x="0" y="0"/>
                  </a:moveTo>
                  <a:lnTo>
                    <a:pt x="6146800" y="0"/>
                  </a:lnTo>
                  <a:lnTo>
                    <a:pt x="6146800" y="592709"/>
                  </a:lnTo>
                  <a:lnTo>
                    <a:pt x="0" y="592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3276600"/>
            <a:ext cx="4737097" cy="254003"/>
            <a:chOff x="0" y="0"/>
            <a:chExt cx="6316129" cy="338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6091" cy="338709"/>
            </a:xfrm>
            <a:custGeom>
              <a:avLst/>
              <a:gdLst/>
              <a:ahLst/>
              <a:cxnLst/>
              <a:rect r="r" b="b" t="t" l="l"/>
              <a:pathLst>
                <a:path h="338709" w="6316091">
                  <a:moveTo>
                    <a:pt x="0" y="0"/>
                  </a:moveTo>
                  <a:lnTo>
                    <a:pt x="6316091" y="0"/>
                  </a:lnTo>
                  <a:lnTo>
                    <a:pt x="6316091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8004" y="65522"/>
            <a:ext cx="709412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Summary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7252" y="2771023"/>
            <a:ext cx="452059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Forest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+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-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41" y="564937"/>
            <a:ext cx="3395510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 Forest in One Line</a:t>
            </a:r>
          </a:p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diverse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working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together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6015" y="1339853"/>
            <a:ext cx="164011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</a:t>
            </a:r>
            <a:r>
              <a:rPr lang="en-US" sz="1090" spc="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  <a:r>
              <a:rPr lang="en-US" sz="1090" spc="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</a:t>
            </a:r>
            <a:r>
              <a:rPr lang="en-US" sz="1090" spc="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1090" spc="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568" y="1549889"/>
            <a:ext cx="1682525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sees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30785" y="1759925"/>
            <a:ext cx="1594514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thinks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differently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0862" y="1969951"/>
            <a:ext cx="157875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Count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votes,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0193" y="2179987"/>
            <a:ext cx="1705575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Calculate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average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109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trees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541" y="1128008"/>
            <a:ext cx="740416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Rememb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er: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5633" y="1338034"/>
            <a:ext cx="804643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Many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Trees: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633" y="1548070"/>
            <a:ext cx="569585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Bagging: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5633" y="1758105"/>
            <a:ext cx="1176576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Random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5633" y="1968132"/>
            <a:ext cx="717652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Categories: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5633" y="2178167"/>
            <a:ext cx="625307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Numb</a:t>
            </a:r>
            <a:r>
              <a:rPr lang="en-US" sz="109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ers: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17 / 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3282848"/>
            <a:ext cx="4734992" cy="236649"/>
            <a:chOff x="0" y="0"/>
            <a:chExt cx="4734992" cy="236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2304034" cy="109601"/>
            </a:xfrm>
            <a:custGeom>
              <a:avLst/>
              <a:gdLst/>
              <a:ahLst/>
              <a:cxnLst/>
              <a:rect r="r" b="b" t="t" l="l"/>
              <a:pathLst>
                <a:path h="109601" w="2304034">
                  <a:moveTo>
                    <a:pt x="0" y="109601"/>
                  </a:moveTo>
                  <a:lnTo>
                    <a:pt x="2304034" y="109601"/>
                  </a:lnTo>
                  <a:lnTo>
                    <a:pt x="2304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367534" y="63500"/>
              <a:ext cx="2303907" cy="109601"/>
            </a:xfrm>
            <a:custGeom>
              <a:avLst/>
              <a:gdLst/>
              <a:ahLst/>
              <a:cxnLst/>
              <a:rect r="r" b="b" t="t" l="l"/>
              <a:pathLst>
                <a:path h="109601" w="2303907">
                  <a:moveTo>
                    <a:pt x="0" y="109601"/>
                  </a:moveTo>
                  <a:lnTo>
                    <a:pt x="2303907" y="109601"/>
                  </a:lnTo>
                  <a:lnTo>
                    <a:pt x="23039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B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45171" y="926097"/>
            <a:ext cx="1752067" cy="83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"/>
              </a:lnSpc>
            </a:pPr>
            <a:r>
              <a:rPr lang="en-US" sz="2478" spc="2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ThankYou!</a:t>
            </a:r>
          </a:p>
          <a:p>
            <a:pPr algn="ctr">
              <a:lnSpc>
                <a:spcPts val="1673"/>
              </a:lnSpc>
            </a:pPr>
            <a:r>
              <a:rPr lang="en-US" sz="1195" spc="-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Prepared</a:t>
            </a: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by:</a:t>
            </a: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Ananda</a:t>
            </a: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 spc="-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8620" y="1908562"/>
            <a:ext cx="643376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714" y="3349581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85097" y="3349581"/>
            <a:ext cx="26052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DAHBwfBebU8</dc:identifier>
  <dcterms:modified xsi:type="dcterms:W3CDTF">2011-08-01T06:04:30Z</dcterms:modified>
  <cp:revision>1</cp:revision>
  <dc:title>from the above table we see row sampling and feature sampling in bagging</dc:title>
</cp:coreProperties>
</file>