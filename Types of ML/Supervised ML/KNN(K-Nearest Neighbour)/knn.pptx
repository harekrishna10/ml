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5753100" cy="3238500"/>
  <p:notesSz cx="6858000" cy="9144000"/>
  <p:embeddedFontLst>
    <p:embeddedFont>
      <p:font typeface="IBM Plex Sans Condensed" charset="1" panose="020B0506050203000203"/>
      <p:regular r:id="rId20"/>
    </p:embeddedFont>
    <p:embeddedFont>
      <p:font typeface="IBM Plex Sans" charset="1" panose="020B0503050203000203"/>
      <p:regular r:id="rId21"/>
    </p:embeddedFont>
    <p:embeddedFont>
      <p:font typeface="Montserrat" charset="1" panose="00000500000000000000"/>
      <p:regular r:id="rId22"/>
    </p:embeddedFont>
    <p:embeddedFont>
      <p:font typeface="Open Sans" charset="1" panose="020B0606030504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slide1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slide1.xml" Type="http://schemas.openxmlformats.org/officeDocument/2006/relationships/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slide1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slide1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slide1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41" y="561213"/>
            <a:ext cx="5762377" cy="874662"/>
            <a:chOff x="0" y="0"/>
            <a:chExt cx="5762384" cy="874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5584574" cy="82423"/>
            </a:xfrm>
            <a:custGeom>
              <a:avLst/>
              <a:gdLst/>
              <a:ahLst/>
              <a:cxnLst/>
              <a:rect r="r" b="b" t="t" l="l"/>
              <a:pathLst>
                <a:path h="82423" w="5584574">
                  <a:moveTo>
                    <a:pt x="0" y="50800"/>
                  </a:moveTo>
                  <a:cubicBezTo>
                    <a:pt x="0" y="22860"/>
                    <a:pt x="22860" y="0"/>
                    <a:pt x="50800" y="0"/>
                  </a:cubicBezTo>
                  <a:lnTo>
                    <a:pt x="5533774" y="0"/>
                  </a:lnTo>
                  <a:cubicBezTo>
                    <a:pt x="5561714" y="0"/>
                    <a:pt x="5584574" y="22860"/>
                    <a:pt x="5584574" y="50800"/>
                  </a:cubicBezTo>
                  <a:lnTo>
                    <a:pt x="5584574" y="82423"/>
                  </a:lnTo>
                  <a:lnTo>
                    <a:pt x="0" y="82423"/>
                  </a:lnTo>
                </a:path>
              </a:pathLst>
            </a:custGeom>
            <a:solidFill>
              <a:srgbClr val="232A6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4300" y="126746"/>
              <a:ext cx="5584574" cy="684402"/>
            </a:xfrm>
            <a:custGeom>
              <a:avLst/>
              <a:gdLst/>
              <a:ahLst/>
              <a:cxnLst/>
              <a:rect r="r" b="b" t="t" l="l"/>
              <a:pathLst>
                <a:path h="684402" w="5584574">
                  <a:moveTo>
                    <a:pt x="0" y="684402"/>
                  </a:moveTo>
                  <a:lnTo>
                    <a:pt x="5584574" y="684402"/>
                  </a:lnTo>
                  <a:lnTo>
                    <a:pt x="55845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107950"/>
              <a:ext cx="5584574" cy="652398"/>
            </a:xfrm>
            <a:custGeom>
              <a:avLst/>
              <a:gdLst/>
              <a:ahLst/>
              <a:cxnLst/>
              <a:rect r="r" b="b" t="t" l="l"/>
              <a:pathLst>
                <a:path h="652398" w="5584574">
                  <a:moveTo>
                    <a:pt x="0" y="601598"/>
                  </a:moveTo>
                  <a:cubicBezTo>
                    <a:pt x="0" y="629538"/>
                    <a:pt x="22860" y="652398"/>
                    <a:pt x="50800" y="652398"/>
                  </a:cubicBezTo>
                  <a:lnTo>
                    <a:pt x="5533774" y="652398"/>
                  </a:lnTo>
                  <a:cubicBezTo>
                    <a:pt x="5561714" y="652398"/>
                    <a:pt x="5584574" y="629538"/>
                    <a:pt x="5584574" y="601598"/>
                  </a:cubicBezTo>
                  <a:lnTo>
                    <a:pt x="5584574" y="0"/>
                  </a:lnTo>
                  <a:lnTo>
                    <a:pt x="0" y="0"/>
                  </a:lnTo>
                </a:path>
              </a:pathLst>
            </a:custGeom>
            <a:solidFill>
              <a:srgbClr val="232A6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503" y="3066850"/>
            <a:ext cx="5886917" cy="236649"/>
            <a:chOff x="0" y="0"/>
            <a:chExt cx="5886920" cy="2366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919986" cy="109601"/>
            </a:xfrm>
            <a:custGeom>
              <a:avLst/>
              <a:gdLst/>
              <a:ahLst/>
              <a:cxnLst/>
              <a:rect r="r" b="b" t="t" l="l"/>
              <a:pathLst>
                <a:path h="109601" w="1919986">
                  <a:moveTo>
                    <a:pt x="0" y="0"/>
                  </a:moveTo>
                  <a:lnTo>
                    <a:pt x="0" y="109601"/>
                  </a:lnTo>
                  <a:lnTo>
                    <a:pt x="1919986" y="109601"/>
                  </a:lnTo>
                  <a:lnTo>
                    <a:pt x="1919986" y="0"/>
                  </a:lnTo>
                  <a:close/>
                </a:path>
              </a:pathLst>
            </a:custGeom>
            <a:solidFill>
              <a:srgbClr val="084A5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983486" y="63500"/>
              <a:ext cx="1919986" cy="109601"/>
            </a:xfrm>
            <a:custGeom>
              <a:avLst/>
              <a:gdLst/>
              <a:ahLst/>
              <a:cxnLst/>
              <a:rect r="r" b="b" t="t" l="l"/>
              <a:pathLst>
                <a:path h="109601" w="1919986">
                  <a:moveTo>
                    <a:pt x="0" y="0"/>
                  </a:moveTo>
                  <a:lnTo>
                    <a:pt x="0" y="109601"/>
                  </a:lnTo>
                  <a:lnTo>
                    <a:pt x="1919986" y="109601"/>
                  </a:lnTo>
                  <a:lnTo>
                    <a:pt x="1919986" y="0"/>
                  </a:lnTo>
                  <a:close/>
                </a:path>
              </a:pathLst>
            </a:custGeom>
            <a:solidFill>
              <a:srgbClr val="0B636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903472" y="63500"/>
              <a:ext cx="1919986" cy="109601"/>
            </a:xfrm>
            <a:custGeom>
              <a:avLst/>
              <a:gdLst/>
              <a:ahLst/>
              <a:cxnLst/>
              <a:rect r="r" b="b" t="t" l="l"/>
              <a:pathLst>
                <a:path h="109601" w="1919986">
                  <a:moveTo>
                    <a:pt x="0" y="0"/>
                  </a:moveTo>
                  <a:lnTo>
                    <a:pt x="0" y="109601"/>
                  </a:lnTo>
                  <a:lnTo>
                    <a:pt x="1919986" y="109601"/>
                  </a:lnTo>
                  <a:lnTo>
                    <a:pt x="1919986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01854" y="743055"/>
            <a:ext cx="2811351" cy="45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 Nearest Neighbours (KNN)</a:t>
            </a:r>
          </a:p>
          <a:p>
            <a:pPr algn="ctr">
              <a:lnSpc>
                <a:spcPts val="1527"/>
              </a:lnSpc>
            </a:pPr>
            <a:r>
              <a:rPr lang="en-US" sz="109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Complete Notes with a Full Numerical Example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70623" y="1539250"/>
            <a:ext cx="835123" cy="35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7"/>
              </a:lnSpc>
            </a:pPr>
            <a:r>
              <a:rPr lang="en-US" sz="109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Ananda</a:t>
            </a:r>
            <a:r>
              <a:rPr lang="en-US" sz="109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Rimal</a:t>
            </a:r>
          </a:p>
          <a:p>
            <a:pPr algn="ctr">
              <a:lnSpc>
                <a:spcPts val="1394"/>
              </a:lnSpc>
            </a:pP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AI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Researcher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97620" y="2046627"/>
            <a:ext cx="1188044" cy="12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Machine</a:t>
            </a:r>
            <a:r>
              <a:rPr lang="en-US" sz="7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Learning</a:t>
            </a:r>
            <a:r>
              <a:rPr lang="en-US" sz="797" spc="-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6657" y="3133582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7047" y="3133582"/>
            <a:ext cx="955034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(Machine Learning Lecture)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95016" y="3133582"/>
            <a:ext cx="17328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 u="non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KNN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04221" y="3133582"/>
            <a:ext cx="191976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759996" cy="350110"/>
            <a:chOff x="0" y="0"/>
            <a:chExt cx="5759996" cy="350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59958" cy="350139"/>
            </a:xfrm>
            <a:custGeom>
              <a:avLst/>
              <a:gdLst/>
              <a:ahLst/>
              <a:cxnLst/>
              <a:rect r="r" b="b" t="t" l="l"/>
              <a:pathLst>
                <a:path h="350139" w="5759958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7873" y="477460"/>
            <a:ext cx="5044440" cy="2522220"/>
            <a:chOff x="0" y="0"/>
            <a:chExt cx="6725920" cy="3362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25920" cy="3362960"/>
            </a:xfrm>
            <a:custGeom>
              <a:avLst/>
              <a:gdLst/>
              <a:ahLst/>
              <a:cxnLst/>
              <a:rect r="r" b="b" t="t" l="l"/>
              <a:pathLst>
                <a:path h="3362960" w="6725920">
                  <a:moveTo>
                    <a:pt x="0" y="0"/>
                  </a:moveTo>
                  <a:lnTo>
                    <a:pt x="6725920" y="0"/>
                  </a:lnTo>
                  <a:lnTo>
                    <a:pt x="6725920" y="3362960"/>
                  </a:lnTo>
                  <a:lnTo>
                    <a:pt x="0" y="336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503" y="3066850"/>
            <a:ext cx="5886917" cy="236649"/>
            <a:chOff x="0" y="0"/>
            <a:chExt cx="5886920" cy="2366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919986" cy="109601"/>
            </a:xfrm>
            <a:custGeom>
              <a:avLst/>
              <a:gdLst/>
              <a:ahLst/>
              <a:cxnLst/>
              <a:rect r="r" b="b" t="t" l="l"/>
              <a:pathLst>
                <a:path h="109601" w="1919986">
                  <a:moveTo>
                    <a:pt x="0" y="109601"/>
                  </a:moveTo>
                  <a:lnTo>
                    <a:pt x="1919986" y="109601"/>
                  </a:lnTo>
                  <a:lnTo>
                    <a:pt x="19199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A5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983486" y="63500"/>
              <a:ext cx="1919986" cy="109601"/>
            </a:xfrm>
            <a:custGeom>
              <a:avLst/>
              <a:gdLst/>
              <a:ahLst/>
              <a:cxnLst/>
              <a:rect r="r" b="b" t="t" l="l"/>
              <a:pathLst>
                <a:path h="109601" w="1919986">
                  <a:moveTo>
                    <a:pt x="0" y="109601"/>
                  </a:moveTo>
                  <a:lnTo>
                    <a:pt x="1919986" y="109601"/>
                  </a:lnTo>
                  <a:lnTo>
                    <a:pt x="19199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636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903472" y="63500"/>
              <a:ext cx="1919986" cy="109601"/>
            </a:xfrm>
            <a:custGeom>
              <a:avLst/>
              <a:gdLst/>
              <a:ahLst/>
              <a:cxnLst/>
              <a:rect r="r" b="b" t="t" l="l"/>
              <a:pathLst>
                <a:path h="109601" w="1919986">
                  <a:moveTo>
                    <a:pt x="0" y="109601"/>
                  </a:moveTo>
                  <a:lnTo>
                    <a:pt x="1919986" y="109601"/>
                  </a:lnTo>
                  <a:lnTo>
                    <a:pt x="19199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04" y="65522"/>
            <a:ext cx="1308564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KNN at a Glance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6657" y="3133582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7047" y="3133582"/>
            <a:ext cx="955034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(Machine Learning Lecture)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95016" y="3133582"/>
            <a:ext cx="17328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KNN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04221" y="3133582"/>
            <a:ext cx="191976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759996" cy="350110"/>
            <a:chOff x="0" y="0"/>
            <a:chExt cx="5759996" cy="350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59958" cy="350139"/>
            </a:xfrm>
            <a:custGeom>
              <a:avLst/>
              <a:gdLst/>
              <a:ahLst/>
              <a:cxnLst/>
              <a:rect r="r" b="b" t="t" l="l"/>
              <a:pathLst>
                <a:path h="350139" w="5759958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8915" y="532219"/>
            <a:ext cx="2402205" cy="2402205"/>
            <a:chOff x="0" y="0"/>
            <a:chExt cx="3202940" cy="3202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02940" cy="3202940"/>
            </a:xfrm>
            <a:custGeom>
              <a:avLst/>
              <a:gdLst/>
              <a:ahLst/>
              <a:cxnLst/>
              <a:rect r="r" b="b" t="t" l="l"/>
              <a:pathLst>
                <a:path h="3202940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3202940"/>
                  </a:lnTo>
                  <a:lnTo>
                    <a:pt x="0" y="3202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503" y="3066850"/>
            <a:ext cx="5886917" cy="236649"/>
            <a:chOff x="0" y="0"/>
            <a:chExt cx="5886920" cy="2366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919986" cy="109601"/>
            </a:xfrm>
            <a:custGeom>
              <a:avLst/>
              <a:gdLst/>
              <a:ahLst/>
              <a:cxnLst/>
              <a:rect r="r" b="b" t="t" l="l"/>
              <a:pathLst>
                <a:path h="109601" w="1919986">
                  <a:moveTo>
                    <a:pt x="0" y="109601"/>
                  </a:moveTo>
                  <a:lnTo>
                    <a:pt x="1919986" y="109601"/>
                  </a:lnTo>
                  <a:lnTo>
                    <a:pt x="19199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A5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983486" y="63500"/>
              <a:ext cx="1919986" cy="109601"/>
            </a:xfrm>
            <a:custGeom>
              <a:avLst/>
              <a:gdLst/>
              <a:ahLst/>
              <a:cxnLst/>
              <a:rect r="r" b="b" t="t" l="l"/>
              <a:pathLst>
                <a:path h="109601" w="1919986">
                  <a:moveTo>
                    <a:pt x="0" y="109601"/>
                  </a:moveTo>
                  <a:lnTo>
                    <a:pt x="1919986" y="109601"/>
                  </a:lnTo>
                  <a:lnTo>
                    <a:pt x="19199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636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903472" y="63500"/>
              <a:ext cx="1919986" cy="109601"/>
            </a:xfrm>
            <a:custGeom>
              <a:avLst/>
              <a:gdLst/>
              <a:ahLst/>
              <a:cxnLst/>
              <a:rect r="r" b="b" t="t" l="l"/>
              <a:pathLst>
                <a:path h="109601" w="1919986">
                  <a:moveTo>
                    <a:pt x="0" y="109601"/>
                  </a:moveTo>
                  <a:lnTo>
                    <a:pt x="1919986" y="109601"/>
                  </a:lnTo>
                  <a:lnTo>
                    <a:pt x="19199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04" y="65522"/>
            <a:ext cx="4518012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Points Form Groups: A New Point Joins the Nearest Group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6657" y="3133582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7047" y="3133582"/>
            <a:ext cx="955034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(Machine Learning Lecture)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95016" y="3133582"/>
            <a:ext cx="17328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KNN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04221" y="3133582"/>
            <a:ext cx="191976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759996" cy="350110"/>
            <a:chOff x="0" y="0"/>
            <a:chExt cx="5759996" cy="350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59958" cy="350139"/>
            </a:xfrm>
            <a:custGeom>
              <a:avLst/>
              <a:gdLst/>
              <a:ahLst/>
              <a:cxnLst/>
              <a:rect r="r" b="b" t="t" l="l"/>
              <a:pathLst>
                <a:path h="350139" w="5759958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97" y="584197"/>
            <a:ext cx="5778503" cy="1600200"/>
            <a:chOff x="0" y="0"/>
            <a:chExt cx="7704671" cy="213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04709" cy="2133600"/>
            </a:xfrm>
            <a:custGeom>
              <a:avLst/>
              <a:gdLst/>
              <a:ahLst/>
              <a:cxnLst/>
              <a:rect r="r" b="b" t="t" l="l"/>
              <a:pathLst>
                <a:path h="2133600" w="7704709">
                  <a:moveTo>
                    <a:pt x="0" y="0"/>
                  </a:moveTo>
                  <a:lnTo>
                    <a:pt x="7704709" y="0"/>
                  </a:lnTo>
                  <a:lnTo>
                    <a:pt x="7704709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060697"/>
            <a:ext cx="5892803" cy="254003"/>
            <a:chOff x="0" y="0"/>
            <a:chExt cx="7857071" cy="3386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57109" cy="338709"/>
            </a:xfrm>
            <a:custGeom>
              <a:avLst/>
              <a:gdLst/>
              <a:ahLst/>
              <a:cxnLst/>
              <a:rect r="r" b="b" t="t" l="l"/>
              <a:pathLst>
                <a:path h="338709" w="7857109">
                  <a:moveTo>
                    <a:pt x="0" y="0"/>
                  </a:moveTo>
                  <a:lnTo>
                    <a:pt x="7857109" y="0"/>
                  </a:lnTo>
                  <a:lnTo>
                    <a:pt x="7857109" y="338709"/>
                  </a:lnTo>
                  <a:lnTo>
                    <a:pt x="0" y="33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8004" y="65522"/>
            <a:ext cx="1117159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What is KNN?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541" y="666369"/>
            <a:ext cx="5592556" cy="519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4"/>
              </a:lnSpc>
            </a:pP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Simple definition</a:t>
            </a:r>
          </a:p>
          <a:p>
            <a:pPr algn="l">
              <a:lnSpc>
                <a:spcPts val="1195"/>
              </a:lnSpc>
            </a:pP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KNN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supervised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algorithm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that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classifies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new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looking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at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its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closest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existing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points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 taking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majority</a:t>
            </a:r>
            <a:r>
              <a:rPr lang="en-US" sz="996" spc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vote.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541" y="1382316"/>
            <a:ext cx="5426107" cy="66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4"/>
              </a:lnSpc>
            </a:pPr>
            <a:r>
              <a:rPr lang="en-US" sz="1195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Think of it like this</a:t>
            </a:r>
          </a:p>
          <a:p>
            <a:pPr algn="l">
              <a:lnSpc>
                <a:spcPts val="1195"/>
              </a:lnSpc>
            </a:pP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“Tell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who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your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closest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friends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are,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will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guess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who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you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are.”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You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move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new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school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 want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guess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if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student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likes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football.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Look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closest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friends.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If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them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like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football,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 probably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does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too.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7955" y="2224649"/>
            <a:ext cx="5248313" cy="16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>
                <a:solidFill>
                  <a:srgbClr val="232A6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▶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KNN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called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lazy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learner: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does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training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all.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just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stores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works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5633" y="2385670"/>
            <a:ext cx="1383735" cy="15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when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new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arrives.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7955" y="2604230"/>
            <a:ext cx="4515069" cy="16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>
                <a:solidFill>
                  <a:srgbClr val="232A6C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▶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can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classification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(majority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vote)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regression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(average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neighbours).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6657" y="3133582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7047" y="3133582"/>
            <a:ext cx="95494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(Machine Learning Lecture)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95016" y="3133582"/>
            <a:ext cx="17328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4" action="ppaction://hlinksldjump"/>
              </a:rPr>
              <a:t>KNN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04221" y="3133582"/>
            <a:ext cx="191976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93" y="-20397"/>
            <a:ext cx="5662021" cy="3279599"/>
          </a:xfrm>
          <a:custGeom>
            <a:avLst/>
            <a:gdLst/>
            <a:ahLst/>
            <a:cxnLst/>
            <a:rect r="r" b="b" t="t" l="l"/>
            <a:pathLst>
              <a:path h="3279599" w="5662021">
                <a:moveTo>
                  <a:pt x="0" y="0"/>
                </a:moveTo>
                <a:lnTo>
                  <a:pt x="5662021" y="0"/>
                </a:lnTo>
                <a:lnTo>
                  <a:pt x="5662021" y="3279599"/>
                </a:lnTo>
                <a:lnTo>
                  <a:pt x="0" y="3279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759996" cy="350110"/>
            <a:chOff x="0" y="0"/>
            <a:chExt cx="5759996" cy="350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59958" cy="350139"/>
            </a:xfrm>
            <a:custGeom>
              <a:avLst/>
              <a:gdLst/>
              <a:ahLst/>
              <a:cxnLst/>
              <a:rect r="r" b="b" t="t" l="l"/>
              <a:pathLst>
                <a:path h="350139" w="5759958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97" y="2209800"/>
            <a:ext cx="5778503" cy="584197"/>
            <a:chOff x="0" y="0"/>
            <a:chExt cx="7704671" cy="778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04709" cy="778891"/>
            </a:xfrm>
            <a:custGeom>
              <a:avLst/>
              <a:gdLst/>
              <a:ahLst/>
              <a:cxnLst/>
              <a:rect r="r" b="b" t="t" l="l"/>
              <a:pathLst>
                <a:path h="778891" w="7704709">
                  <a:moveTo>
                    <a:pt x="0" y="0"/>
                  </a:moveTo>
                  <a:lnTo>
                    <a:pt x="7704709" y="0"/>
                  </a:lnTo>
                  <a:lnTo>
                    <a:pt x="7704709" y="778891"/>
                  </a:lnTo>
                  <a:lnTo>
                    <a:pt x="0" y="778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060697"/>
            <a:ext cx="5892803" cy="254003"/>
            <a:chOff x="0" y="0"/>
            <a:chExt cx="7857071" cy="3386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57109" cy="338709"/>
            </a:xfrm>
            <a:custGeom>
              <a:avLst/>
              <a:gdLst/>
              <a:ahLst/>
              <a:cxnLst/>
              <a:rect r="r" b="b" t="t" l="l"/>
              <a:pathLst>
                <a:path h="338709" w="7857109">
                  <a:moveTo>
                    <a:pt x="0" y="0"/>
                  </a:moveTo>
                  <a:lnTo>
                    <a:pt x="7857109" y="0"/>
                  </a:lnTo>
                  <a:lnTo>
                    <a:pt x="7857109" y="338709"/>
                  </a:lnTo>
                  <a:lnTo>
                    <a:pt x="0" y="33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8004" y="65522"/>
            <a:ext cx="1616402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Where is KNN Used?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4892" y="1175433"/>
            <a:ext cx="100384" cy="17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76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4892" y="1758877"/>
            <a:ext cx="100384" cy="17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76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4892" y="743807"/>
            <a:ext cx="100384" cy="17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76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72155" y="743807"/>
            <a:ext cx="100384" cy="17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76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72155" y="1327261"/>
            <a:ext cx="100384" cy="17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76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72155" y="1758877"/>
            <a:ext cx="100384" cy="17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76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2579" y="1202007"/>
            <a:ext cx="2256996" cy="88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Image</a:t>
            </a:r>
            <a:r>
              <a:rPr lang="en-US" sz="996" spc="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recognition</a:t>
            </a:r>
          </a:p>
          <a:p>
            <a:pPr algn="l">
              <a:lnSpc>
                <a:spcPts val="1195"/>
              </a:lnSpc>
            </a:pP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match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new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nearest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known images</a:t>
            </a:r>
          </a:p>
          <a:p>
            <a:pPr algn="l">
              <a:lnSpc>
                <a:spcPts val="1195"/>
              </a:lnSpc>
            </a:pP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Medical</a:t>
            </a:r>
            <a:r>
              <a:rPr lang="en-US" sz="996" spc="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diagnosis</a:t>
            </a:r>
          </a:p>
          <a:p>
            <a:pPr algn="l">
              <a:lnSpc>
                <a:spcPts val="1195"/>
              </a:lnSpc>
            </a:pP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compare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patient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similar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past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patients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2579" y="751332"/>
            <a:ext cx="2070964" cy="31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Recommendation</a:t>
            </a:r>
            <a:r>
              <a:rPr lang="en-US" sz="996" spc="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systems</a:t>
            </a:r>
          </a:p>
          <a:p>
            <a:pPr algn="l">
              <a:lnSpc>
                <a:spcPts val="1394"/>
              </a:lnSpc>
            </a:pP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find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users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items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most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similar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you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39834" y="1766411"/>
            <a:ext cx="2390003" cy="31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Search</a:t>
            </a:r>
            <a:r>
              <a:rPr lang="en-US" sz="996" spc="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  <a:r>
              <a:rPr lang="en-US" sz="996" spc="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matching</a:t>
            </a:r>
          </a:p>
          <a:p>
            <a:pPr algn="l">
              <a:lnSpc>
                <a:spcPts val="1394"/>
              </a:lnSpc>
            </a:pP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find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most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similar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documents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products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39834" y="1334786"/>
            <a:ext cx="1886369" cy="31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Handwriting</a:t>
            </a:r>
            <a:r>
              <a:rPr lang="en-US" sz="996" spc="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  <a:r>
              <a:rPr lang="en-US" sz="996" spc="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OCR</a:t>
            </a:r>
          </a:p>
          <a:p>
            <a:pPr algn="l">
              <a:lnSpc>
                <a:spcPts val="1394"/>
              </a:lnSpc>
            </a:pP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classic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digit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recognition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benchmark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39834" y="770382"/>
            <a:ext cx="2319814" cy="45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Credit</a:t>
            </a:r>
            <a:r>
              <a:rPr lang="en-US" sz="996" spc="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scoring</a:t>
            </a:r>
            <a:r>
              <a:rPr lang="en-US" sz="996" spc="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  <a:r>
              <a:rPr lang="en-US" sz="996" spc="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fraud</a:t>
            </a:r>
          </a:p>
          <a:p>
            <a:pPr algn="l">
              <a:lnSpc>
                <a:spcPts val="1195"/>
              </a:lnSpc>
            </a:pP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does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transaction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look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like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known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fraud cases?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541" y="2495921"/>
            <a:ext cx="4853054" cy="15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Any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problem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type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“find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most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SIMILAR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things”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nearest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neighbour</a:t>
            </a:r>
            <a:r>
              <a:rPr lang="en-US" sz="99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problem.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541" y="2276437"/>
            <a:ext cx="1704365" cy="19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One sentence to remember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6657" y="3133582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7047" y="3133582"/>
            <a:ext cx="955034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(Machine Learning Lecture)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95016" y="3133582"/>
            <a:ext cx="17328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4" action="ppaction://hlinksldjump"/>
              </a:rPr>
              <a:t>KNN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04221" y="3133582"/>
            <a:ext cx="191976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759996" cy="350110"/>
            <a:chOff x="0" y="0"/>
            <a:chExt cx="5759996" cy="350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59958" cy="350139"/>
            </a:xfrm>
            <a:custGeom>
              <a:avLst/>
              <a:gdLst/>
              <a:ahLst/>
              <a:cxnLst/>
              <a:rect r="r" b="b" t="t" l="l"/>
              <a:pathLst>
                <a:path h="350139" w="5759958">
                  <a:moveTo>
                    <a:pt x="0" y="0"/>
                  </a:moveTo>
                  <a:lnTo>
                    <a:pt x="0" y="350139"/>
                  </a:lnTo>
                  <a:lnTo>
                    <a:pt x="5759958" y="35013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232A6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463803"/>
            <a:ext cx="5892803" cy="850897"/>
            <a:chOff x="0" y="0"/>
            <a:chExt cx="7857071" cy="11345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57109" cy="1134491"/>
            </a:xfrm>
            <a:custGeom>
              <a:avLst/>
              <a:gdLst/>
              <a:ahLst/>
              <a:cxnLst/>
              <a:rect r="r" b="b" t="t" l="l"/>
              <a:pathLst>
                <a:path h="1134491" w="7857109">
                  <a:moveTo>
                    <a:pt x="0" y="0"/>
                  </a:moveTo>
                  <a:lnTo>
                    <a:pt x="7857109" y="0"/>
                  </a:lnTo>
                  <a:lnTo>
                    <a:pt x="7857109" y="1134491"/>
                  </a:lnTo>
                  <a:lnTo>
                    <a:pt x="0" y="1134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" y="65522"/>
            <a:ext cx="3742696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 Products That Use Nearest Neighbour Ideas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135" y="468982"/>
            <a:ext cx="91373" cy="16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"/>
              </a:lnSpc>
            </a:pPr>
            <a:r>
              <a:rPr lang="en-US" sz="906" spc="160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8135" y="1208865"/>
            <a:ext cx="91373" cy="16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"/>
              </a:lnSpc>
            </a:pPr>
            <a:r>
              <a:rPr lang="en-US" sz="906" spc="160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35" y="1578797"/>
            <a:ext cx="91373" cy="16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"/>
              </a:lnSpc>
            </a:pPr>
            <a:r>
              <a:rPr lang="en-US" sz="906" spc="160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8135" y="1948748"/>
            <a:ext cx="91373" cy="16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"/>
              </a:lnSpc>
            </a:pPr>
            <a:r>
              <a:rPr lang="en-US" sz="906" spc="160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8135" y="838914"/>
            <a:ext cx="91373" cy="16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"/>
              </a:lnSpc>
            </a:pPr>
            <a:r>
              <a:rPr lang="en-US" sz="906" spc="160">
                <a:solidFill>
                  <a:srgbClr val="232A6C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541" y="2754935"/>
            <a:ext cx="5335124" cy="26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8"/>
              </a:lnSpc>
            </a:pP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At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big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scale,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products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APPROXIMATE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nearest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neighbours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(ANN)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speed,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but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core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idea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exactly the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KNN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idea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you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learn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here.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0763" y="504406"/>
            <a:ext cx="5105686" cy="187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8"/>
              </a:lnSpc>
            </a:pP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Spotify: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music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recommendations.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Spotify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even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built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open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sourced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own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nearest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neighbour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library called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Annoy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find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similar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songs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users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fast.</a:t>
            </a:r>
          </a:p>
          <a:p>
            <a:pPr algn="l" rtl="true">
              <a:lnSpc>
                <a:spcPts val="1088"/>
              </a:lnSpc>
            </a:pPr>
          </a:p>
          <a:p>
            <a:pPr algn="l">
              <a:lnSpc>
                <a:spcPts val="1088"/>
              </a:lnSpc>
            </a:pP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Amazon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style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“customers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also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bought”: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item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item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recommendations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built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finding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nearest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(most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similar)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products.</a:t>
            </a:r>
          </a:p>
          <a:p>
            <a:pPr algn="l" rtl="true">
              <a:lnSpc>
                <a:spcPts val="1088"/>
              </a:lnSpc>
            </a:pPr>
          </a:p>
          <a:p>
            <a:pPr algn="l">
              <a:lnSpc>
                <a:spcPts val="1088"/>
              </a:lnSpc>
            </a:pP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Netflix: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early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recommendation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engines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used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nearest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neighbour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collaborative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filtering: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users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similar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</a:p>
          <a:p>
            <a:pPr algn="l">
              <a:lnSpc>
                <a:spcPts val="1088"/>
              </a:lnSpc>
            </a:pP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you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liked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movie.</a:t>
            </a:r>
          </a:p>
          <a:p>
            <a:pPr algn="l" rtl="true">
              <a:lnSpc>
                <a:spcPts val="1088"/>
              </a:lnSpc>
            </a:pPr>
          </a:p>
          <a:p>
            <a:pPr algn="l">
              <a:lnSpc>
                <a:spcPts val="1088"/>
              </a:lnSpc>
            </a:pP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Face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unlock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photo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search: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face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becomes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vector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(embedding),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system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finds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nearest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stored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face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vector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identify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person.</a:t>
            </a:r>
          </a:p>
          <a:p>
            <a:pPr algn="l" rtl="true">
              <a:lnSpc>
                <a:spcPts val="1088"/>
              </a:lnSpc>
            </a:pPr>
          </a:p>
          <a:p>
            <a:pPr algn="l">
              <a:lnSpc>
                <a:spcPts val="1088"/>
              </a:lnSpc>
            </a:pP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Modern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AI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search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(vector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databases):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tools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like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FAISS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(from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Meta)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Pinecone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run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approximate nearest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neighbour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search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millions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embeddings.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This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powers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semantic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search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chatbot</a:t>
            </a:r>
            <a:r>
              <a:rPr lang="en-US" sz="90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0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memory today.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541" y="2519334"/>
            <a:ext cx="276958" cy="18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3"/>
              </a:lnSpc>
            </a:pPr>
            <a:r>
              <a:rPr lang="en-US" sz="1088" spc="-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6657" y="3133582"/>
            <a:ext cx="486099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Ananda Rimal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7047" y="3133582"/>
            <a:ext cx="955034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(Machine Learning Lecture)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95016" y="3133582"/>
            <a:ext cx="173288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-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KNN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04221" y="3133582"/>
            <a:ext cx="191976" cy="9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"/>
              </a:lnSpc>
            </a:pPr>
            <a:r>
              <a:rPr lang="en-US" sz="597" spc="6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724977" cy="3207503"/>
          </a:xfrm>
          <a:custGeom>
            <a:avLst/>
            <a:gdLst/>
            <a:ahLst/>
            <a:cxnLst/>
            <a:rect r="r" b="b" t="t" l="l"/>
            <a:pathLst>
              <a:path h="3207503" w="5724977">
                <a:moveTo>
                  <a:pt x="0" y="0"/>
                </a:moveTo>
                <a:lnTo>
                  <a:pt x="5724977" y="0"/>
                </a:lnTo>
                <a:lnTo>
                  <a:pt x="5724977" y="3207503"/>
                </a:lnTo>
                <a:lnTo>
                  <a:pt x="0" y="3207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671" y="0"/>
            <a:ext cx="5561957" cy="3197030"/>
          </a:xfrm>
          <a:custGeom>
            <a:avLst/>
            <a:gdLst/>
            <a:ahLst/>
            <a:cxnLst/>
            <a:rect r="r" b="b" t="t" l="l"/>
            <a:pathLst>
              <a:path h="3197030" w="5561957">
                <a:moveTo>
                  <a:pt x="0" y="0"/>
                </a:moveTo>
                <a:lnTo>
                  <a:pt x="5561957" y="0"/>
                </a:lnTo>
                <a:lnTo>
                  <a:pt x="5561957" y="3197030"/>
                </a:lnTo>
                <a:lnTo>
                  <a:pt x="0" y="3197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679"/>
            <a:ext cx="5442326" cy="3153094"/>
          </a:xfrm>
          <a:custGeom>
            <a:avLst/>
            <a:gdLst/>
            <a:ahLst/>
            <a:cxnLst/>
            <a:rect r="r" b="b" t="t" l="l"/>
            <a:pathLst>
              <a:path h="3153094" w="5442326">
                <a:moveTo>
                  <a:pt x="0" y="0"/>
                </a:moveTo>
                <a:lnTo>
                  <a:pt x="5442326" y="0"/>
                </a:lnTo>
                <a:lnTo>
                  <a:pt x="5442326" y="3153093"/>
                </a:lnTo>
                <a:lnTo>
                  <a:pt x="0" y="315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450531" cy="3131003"/>
          </a:xfrm>
          <a:custGeom>
            <a:avLst/>
            <a:gdLst/>
            <a:ahLst/>
            <a:cxnLst/>
            <a:rect r="r" b="b" t="t" l="l"/>
            <a:pathLst>
              <a:path h="3131003" w="5450531">
                <a:moveTo>
                  <a:pt x="0" y="0"/>
                </a:moveTo>
                <a:lnTo>
                  <a:pt x="5450531" y="0"/>
                </a:lnTo>
                <a:lnTo>
                  <a:pt x="5450531" y="3131003"/>
                </a:lnTo>
                <a:lnTo>
                  <a:pt x="0" y="313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653968" cy="3115603"/>
          </a:xfrm>
          <a:custGeom>
            <a:avLst/>
            <a:gdLst/>
            <a:ahLst/>
            <a:cxnLst/>
            <a:rect r="r" b="b" t="t" l="l"/>
            <a:pathLst>
              <a:path h="3115603" w="5653968">
                <a:moveTo>
                  <a:pt x="0" y="0"/>
                </a:moveTo>
                <a:lnTo>
                  <a:pt x="5653968" y="0"/>
                </a:lnTo>
                <a:lnTo>
                  <a:pt x="5653968" y="3115603"/>
                </a:lnTo>
                <a:lnTo>
                  <a:pt x="0" y="3115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588869" cy="3199901"/>
          </a:xfrm>
          <a:custGeom>
            <a:avLst/>
            <a:gdLst/>
            <a:ahLst/>
            <a:cxnLst/>
            <a:rect r="r" b="b" t="t" l="l"/>
            <a:pathLst>
              <a:path h="3199901" w="5588869">
                <a:moveTo>
                  <a:pt x="0" y="0"/>
                </a:moveTo>
                <a:lnTo>
                  <a:pt x="5588869" y="0"/>
                </a:lnTo>
                <a:lnTo>
                  <a:pt x="5588869" y="3199901"/>
                </a:lnTo>
                <a:lnTo>
                  <a:pt x="0" y="3199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540" y="0"/>
            <a:ext cx="5426238" cy="3142636"/>
          </a:xfrm>
          <a:custGeom>
            <a:avLst/>
            <a:gdLst/>
            <a:ahLst/>
            <a:cxnLst/>
            <a:rect r="r" b="b" t="t" l="l"/>
            <a:pathLst>
              <a:path h="3142636" w="5426238">
                <a:moveTo>
                  <a:pt x="0" y="0"/>
                </a:moveTo>
                <a:lnTo>
                  <a:pt x="5426238" y="0"/>
                </a:lnTo>
                <a:lnTo>
                  <a:pt x="5426238" y="3142636"/>
                </a:lnTo>
                <a:lnTo>
                  <a:pt x="0" y="314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DAHRWSXjb80</dc:identifier>
  <dcterms:modified xsi:type="dcterms:W3CDTF">2011-08-01T06:04:30Z</dcterms:modified>
  <cp:revision>1</cp:revision>
  <dc:title>1 Choose a value of K(forexample3) 2 Measurethedistancefromthenewpoint</dc:title>
</cp:coreProperties>
</file>