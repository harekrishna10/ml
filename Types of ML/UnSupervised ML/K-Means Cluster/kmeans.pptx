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BM Plex Sans Condensed" charset="1" panose="020B0506050203000203"/>
      <p:regular r:id="rId20"/>
    </p:embeddedFont>
    <p:embeddedFont>
      <p:font typeface="IBM Plex Sans" charset="1" panose="020B0503050203000203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slide14.xml" Type="http://schemas.openxmlformats.org/officeDocument/2006/relationships/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slide1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svg" Type="http://schemas.openxmlformats.org/officeDocument/2006/relationships/image"/><Relationship Id="rId4" Target="slide1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10.svg" Type="http://schemas.openxmlformats.org/officeDocument/2006/relationships/image"/><Relationship Id="rId5" Target="slide1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7.png" Type="http://schemas.openxmlformats.org/officeDocument/2006/relationships/image"/><Relationship Id="rId4" Target="slide1.xml" Type="http://schemas.openxmlformats.org/officeDocument/2006/relationships/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7.png" Type="http://schemas.openxmlformats.org/officeDocument/2006/relationships/image"/><Relationship Id="rId7" Target="slide1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282" y="2334444"/>
            <a:ext cx="17873034" cy="2338997"/>
          </a:xfrm>
          <a:custGeom>
            <a:avLst/>
            <a:gdLst/>
            <a:ahLst/>
            <a:cxnLst/>
            <a:rect r="r" b="b" t="t" l="l"/>
            <a:pathLst>
              <a:path h="2338997" w="17873034">
                <a:moveTo>
                  <a:pt x="0" y="0"/>
                </a:moveTo>
                <a:lnTo>
                  <a:pt x="17873034" y="0"/>
                </a:lnTo>
                <a:lnTo>
                  <a:pt x="17873034" y="2338997"/>
                </a:lnTo>
                <a:lnTo>
                  <a:pt x="0" y="2338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" y="9935594"/>
            <a:ext cx="18268169" cy="347605"/>
          </a:xfrm>
          <a:custGeom>
            <a:avLst/>
            <a:gdLst/>
            <a:ahLst/>
            <a:cxnLst/>
            <a:rect r="r" b="b" t="t" l="l"/>
            <a:pathLst>
              <a:path h="347605" w="18268169">
                <a:moveTo>
                  <a:pt x="0" y="0"/>
                </a:moveTo>
                <a:lnTo>
                  <a:pt x="18268169" y="0"/>
                </a:lnTo>
                <a:lnTo>
                  <a:pt x="18268169" y="347606"/>
                </a:lnTo>
                <a:lnTo>
                  <a:pt x="0" y="3476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59240" y="2627052"/>
            <a:ext cx="9740694" cy="148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</a:pPr>
            <a:r>
              <a:rPr lang="en-US" sz="4550" spc="-2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K-Means Clustering</a:t>
            </a:r>
          </a:p>
          <a:p>
            <a:pPr algn="ctr">
              <a:lnSpc>
                <a:spcPts val="4843"/>
              </a:lnSpc>
            </a:pP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Complete Notes with a Full Step by Step Numerical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54654" y="5160140"/>
            <a:ext cx="4854340" cy="6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Machine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9369" y="9918906"/>
            <a:ext cx="2825991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 Lecture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57539" y="9918906"/>
            <a:ext cx="971960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K-Means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57096" y="9918906"/>
            <a:ext cx="608867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18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1/13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02957" y="6070330"/>
            <a:ext cx="3574142" cy="72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7"/>
              </a:lnSpc>
            </a:pPr>
            <a:r>
              <a:rPr lang="en-US" sz="3804" spc="-6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By:Ananda Rimal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0"/>
            <a:ext cx="18268188" cy="1110482"/>
            <a:chOff x="0" y="0"/>
            <a:chExt cx="24357584" cy="1480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57585" cy="1480693"/>
            </a:xfrm>
            <a:custGeom>
              <a:avLst/>
              <a:gdLst/>
              <a:ahLst/>
              <a:cxnLst/>
              <a:rect r="r" b="b" t="t" l="l"/>
              <a:pathLst>
                <a:path h="1480693" w="24357585">
                  <a:moveTo>
                    <a:pt x="0" y="0"/>
                  </a:moveTo>
                  <a:lnTo>
                    <a:pt x="0" y="1480693"/>
                  </a:lnTo>
                  <a:lnTo>
                    <a:pt x="24357585" y="1480693"/>
                  </a:lnTo>
                  <a:lnTo>
                    <a:pt x="24357585" y="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272" y="1739427"/>
            <a:ext cx="18327091" cy="2497407"/>
            <a:chOff x="0" y="0"/>
            <a:chExt cx="24436121" cy="33298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36070" cy="3329813"/>
            </a:xfrm>
            <a:custGeom>
              <a:avLst/>
              <a:gdLst/>
              <a:ahLst/>
              <a:cxnLst/>
              <a:rect r="r" b="b" t="t" l="l"/>
              <a:pathLst>
                <a:path h="3329813" w="24436070">
                  <a:moveTo>
                    <a:pt x="0" y="0"/>
                  </a:moveTo>
                  <a:lnTo>
                    <a:pt x="24436070" y="0"/>
                  </a:lnTo>
                  <a:lnTo>
                    <a:pt x="24436070" y="3329813"/>
                  </a:lnTo>
                  <a:lnTo>
                    <a:pt x="0" y="33298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1" r="0" b="-40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272" y="6895157"/>
            <a:ext cx="18327091" cy="2497407"/>
            <a:chOff x="0" y="0"/>
            <a:chExt cx="24436121" cy="33298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36070" cy="3329813"/>
            </a:xfrm>
            <a:custGeom>
              <a:avLst/>
              <a:gdLst/>
              <a:ahLst/>
              <a:cxnLst/>
              <a:rect r="r" b="b" t="t" l="l"/>
              <a:pathLst>
                <a:path h="3329813" w="24436070">
                  <a:moveTo>
                    <a:pt x="0" y="0"/>
                  </a:moveTo>
                  <a:lnTo>
                    <a:pt x="24436070" y="0"/>
                  </a:lnTo>
                  <a:lnTo>
                    <a:pt x="24436070" y="3329813"/>
                  </a:lnTo>
                  <a:lnTo>
                    <a:pt x="0" y="33298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1" r="0" b="-40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714681"/>
            <a:ext cx="18689603" cy="805682"/>
            <a:chOff x="0" y="0"/>
            <a:chExt cx="24919470" cy="10742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19432" cy="1074293"/>
            </a:xfrm>
            <a:custGeom>
              <a:avLst/>
              <a:gdLst/>
              <a:ahLst/>
              <a:cxnLst/>
              <a:rect r="r" b="b" t="t" l="l"/>
              <a:pathLst>
                <a:path h="1074293" w="24919432">
                  <a:moveTo>
                    <a:pt x="0" y="0"/>
                  </a:moveTo>
                  <a:lnTo>
                    <a:pt x="24919432" y="0"/>
                  </a:lnTo>
                  <a:lnTo>
                    <a:pt x="24919432" y="1074293"/>
                  </a:lnTo>
                  <a:lnTo>
                    <a:pt x="0" y="1074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6" b="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2548" y="164630"/>
            <a:ext cx="4739964" cy="83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spc="-2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 is Clustering?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9398" y="1976104"/>
            <a:ext cx="17737255" cy="181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sz="3790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 definition</a:t>
            </a:r>
          </a:p>
          <a:p>
            <a:pPr algn="l">
              <a:lnSpc>
                <a:spcPts val="4297"/>
              </a:lnSpc>
            </a:pP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Clustering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means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dividing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into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homogeneous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(clusters):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SAME group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possible,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possible.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9398" y="7130720"/>
            <a:ext cx="17099470" cy="178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sz="3790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Everyday examples</a:t>
            </a:r>
          </a:p>
          <a:p>
            <a:pPr algn="l">
              <a:lnSpc>
                <a:spcPts val="429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houses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value,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type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location.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earthquake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zones: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areas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past earthquakes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together,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which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helps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where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next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probable.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6771" y="4248055"/>
            <a:ext cx="17203874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10">
                <a:solidFill>
                  <a:srgbClr val="1E276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unsupervised: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labels.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algorithm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discovers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8212" y="4875905"/>
            <a:ext cx="1583846" cy="6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itself.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6771" y="5459940"/>
            <a:ext cx="17278102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10">
                <a:solidFill>
                  <a:srgbClr val="1E276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classification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(like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SVM):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there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already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know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classes.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8212" y="6087780"/>
            <a:ext cx="7794727" cy="6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searching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structure.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9369" y="9918878"/>
            <a:ext cx="2825991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 Lecture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57539" y="9918878"/>
            <a:ext cx="971960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5" action="ppaction://hlinksldjump"/>
              </a:rPr>
              <a:t>K-Means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457096" y="9918878"/>
            <a:ext cx="608867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18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1844" y="328965"/>
            <a:ext cx="15332983" cy="8624802"/>
            <a:chOff x="0" y="0"/>
            <a:chExt cx="20443977" cy="11499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43952" cy="11499723"/>
            </a:xfrm>
            <a:custGeom>
              <a:avLst/>
              <a:gdLst/>
              <a:ahLst/>
              <a:cxnLst/>
              <a:rect r="r" b="b" t="t" l="l"/>
              <a:pathLst>
                <a:path h="11499723" w="20443952">
                  <a:moveTo>
                    <a:pt x="0" y="0"/>
                  </a:moveTo>
                  <a:lnTo>
                    <a:pt x="20443952" y="0"/>
                  </a:lnTo>
                  <a:lnTo>
                    <a:pt x="20443952" y="11499723"/>
                  </a:lnTo>
                  <a:lnTo>
                    <a:pt x="0" y="1149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1844" y="1028700"/>
            <a:ext cx="15186146" cy="8542201"/>
            <a:chOff x="0" y="0"/>
            <a:chExt cx="20248194" cy="113896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48245" cy="11389614"/>
            </a:xfrm>
            <a:custGeom>
              <a:avLst/>
              <a:gdLst/>
              <a:ahLst/>
              <a:cxnLst/>
              <a:rect r="r" b="b" t="t" l="l"/>
              <a:pathLst>
                <a:path h="11389614" w="20248245">
                  <a:moveTo>
                    <a:pt x="0" y="0"/>
                  </a:moveTo>
                  <a:lnTo>
                    <a:pt x="20248245" y="0"/>
                  </a:lnTo>
                  <a:lnTo>
                    <a:pt x="20248245" y="11389614"/>
                  </a:lnTo>
                  <a:lnTo>
                    <a:pt x="0" y="11389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0"/>
            <a:ext cx="18268188" cy="1110482"/>
            <a:chOff x="0" y="0"/>
            <a:chExt cx="24357584" cy="1480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57585" cy="1480693"/>
            </a:xfrm>
            <a:custGeom>
              <a:avLst/>
              <a:gdLst/>
              <a:ahLst/>
              <a:cxnLst/>
              <a:rect r="r" b="b" t="t" l="l"/>
              <a:pathLst>
                <a:path h="1480693" w="24357585">
                  <a:moveTo>
                    <a:pt x="0" y="0"/>
                  </a:moveTo>
                  <a:lnTo>
                    <a:pt x="0" y="1480693"/>
                  </a:lnTo>
                  <a:lnTo>
                    <a:pt x="24357585" y="1480693"/>
                  </a:lnTo>
                  <a:lnTo>
                    <a:pt x="24357585" y="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935594"/>
            <a:ext cx="18268169" cy="347605"/>
          </a:xfrm>
          <a:custGeom>
            <a:avLst/>
            <a:gdLst/>
            <a:ahLst/>
            <a:cxnLst/>
            <a:rect r="r" b="b" t="t" l="l"/>
            <a:pathLst>
              <a:path h="347605" w="18268169">
                <a:moveTo>
                  <a:pt x="0" y="0"/>
                </a:moveTo>
                <a:lnTo>
                  <a:pt x="18268169" y="0"/>
                </a:lnTo>
                <a:lnTo>
                  <a:pt x="18268169" y="347606"/>
                </a:lnTo>
                <a:lnTo>
                  <a:pt x="0" y="347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2548" y="164630"/>
            <a:ext cx="10255948" cy="83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spc="-1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Where is K-Means Used in Real Products?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6771" y="4492723"/>
            <a:ext cx="348615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612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771" y="5704599"/>
            <a:ext cx="348615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612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6771" y="6916541"/>
            <a:ext cx="348615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612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6771" y="8128416"/>
            <a:ext cx="348615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612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6771" y="3280848"/>
            <a:ext cx="348615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612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6771" y="1523238"/>
            <a:ext cx="348615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612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8212" y="1713843"/>
            <a:ext cx="16747026" cy="767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Customer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segmentation: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e-commerce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telecom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companies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customers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 spending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behaviour,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target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segment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differently.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number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one industry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K-means.</a:t>
            </a:r>
          </a:p>
          <a:p>
            <a:pPr algn="l">
              <a:lnSpc>
                <a:spcPts val="6193"/>
              </a:lnSpc>
            </a:pP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Streaming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platforms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(Spotify,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Netflix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style):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cluster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listeners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viewers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into</a:t>
            </a:r>
            <a:r>
              <a:rPr lang="en-US" sz="3459" spc="1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59" spc="1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taste</a:t>
            </a:r>
          </a:p>
          <a:p>
            <a:pPr algn="l">
              <a:lnSpc>
                <a:spcPts val="2401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groups,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recommend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enjoys.</a:t>
            </a:r>
          </a:p>
          <a:p>
            <a:pPr algn="l">
              <a:lnSpc>
                <a:spcPts val="8089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compression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(color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quantization):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reduce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photo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colors.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Every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pixel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</a:p>
          <a:p>
            <a:pPr algn="l">
              <a:lnSpc>
                <a:spcPts val="1729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replaced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nearest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centroid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color.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Fewer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colors,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smaller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file.</a:t>
            </a:r>
          </a:p>
          <a:p>
            <a:pPr algn="l">
              <a:lnSpc>
                <a:spcPts val="864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Ride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sharing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delivery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(Uber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style):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pickup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locations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decide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zones,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place</a:t>
            </a:r>
          </a:p>
          <a:p>
            <a:pPr algn="l">
              <a:lnSpc>
                <a:spcPts val="1729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drivers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plan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surge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areas.</a:t>
            </a:r>
          </a:p>
          <a:p>
            <a:pPr algn="l">
              <a:lnSpc>
                <a:spcPts val="864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(Google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style):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articles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story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shows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</a:p>
          <a:p>
            <a:pPr algn="l">
              <a:lnSpc>
                <a:spcPts val="1729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single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group.</a:t>
            </a:r>
          </a:p>
          <a:p>
            <a:pPr algn="l">
              <a:lnSpc>
                <a:spcPts val="864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Anomaly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fraud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detection: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transaction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centroids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normal</a:t>
            </a:r>
          </a:p>
          <a:p>
            <a:pPr algn="l">
              <a:lnSpc>
                <a:spcPts val="1729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flagged.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9369" y="9918906"/>
            <a:ext cx="2825991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 Lecture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57539" y="9918906"/>
            <a:ext cx="971960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4" action="ppaction://hlinksldjump"/>
              </a:rPr>
              <a:t>K-Means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57096" y="9918906"/>
            <a:ext cx="608867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18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4/13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195" y="597903"/>
            <a:ext cx="14880755" cy="8370427"/>
            <a:chOff x="0" y="0"/>
            <a:chExt cx="19841007" cy="111605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40956" cy="11160506"/>
            </a:xfrm>
            <a:custGeom>
              <a:avLst/>
              <a:gdLst/>
              <a:ahLst/>
              <a:cxnLst/>
              <a:rect r="r" b="b" t="t" l="l"/>
              <a:pathLst>
                <a:path h="11160506" w="19840956">
                  <a:moveTo>
                    <a:pt x="0" y="0"/>
                  </a:moveTo>
                  <a:lnTo>
                    <a:pt x="19840956" y="0"/>
                  </a:lnTo>
                  <a:lnTo>
                    <a:pt x="19840956" y="11160506"/>
                  </a:lnTo>
                  <a:lnTo>
                    <a:pt x="0" y="11160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0"/>
            <a:ext cx="18268188" cy="1110482"/>
            <a:chOff x="0" y="0"/>
            <a:chExt cx="24357584" cy="1480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57585" cy="1480693"/>
            </a:xfrm>
            <a:custGeom>
              <a:avLst/>
              <a:gdLst/>
              <a:ahLst/>
              <a:cxnLst/>
              <a:rect r="r" b="b" t="t" l="l"/>
              <a:pathLst>
                <a:path h="1480693" w="24357585">
                  <a:moveTo>
                    <a:pt x="0" y="0"/>
                  </a:moveTo>
                  <a:lnTo>
                    <a:pt x="0" y="1480693"/>
                  </a:lnTo>
                  <a:lnTo>
                    <a:pt x="24357585" y="1480693"/>
                  </a:lnTo>
                  <a:lnTo>
                    <a:pt x="24357585" y="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18287" y="2373516"/>
            <a:ext cx="4632512" cy="35042"/>
            <a:chOff x="0" y="0"/>
            <a:chExt cx="6176683" cy="46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76645" cy="46736"/>
            </a:xfrm>
            <a:custGeom>
              <a:avLst/>
              <a:gdLst/>
              <a:ahLst/>
              <a:cxnLst/>
              <a:rect r="r" b="b" t="t" l="l"/>
              <a:pathLst>
                <a:path h="46736" w="6176645">
                  <a:moveTo>
                    <a:pt x="0" y="0"/>
                  </a:moveTo>
                  <a:lnTo>
                    <a:pt x="6176645" y="0"/>
                  </a:lnTo>
                  <a:lnTo>
                    <a:pt x="6176645" y="46736"/>
                  </a:lnTo>
                  <a:lnTo>
                    <a:pt x="0" y="467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18287" y="3095282"/>
            <a:ext cx="4632512" cy="22165"/>
            <a:chOff x="0" y="0"/>
            <a:chExt cx="6176683" cy="295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76645" cy="29591"/>
            </a:xfrm>
            <a:custGeom>
              <a:avLst/>
              <a:gdLst/>
              <a:ahLst/>
              <a:cxnLst/>
              <a:rect r="r" b="b" t="t" l="l"/>
              <a:pathLst>
                <a:path h="29591" w="6176645">
                  <a:moveTo>
                    <a:pt x="0" y="0"/>
                  </a:moveTo>
                  <a:lnTo>
                    <a:pt x="6176645" y="0"/>
                  </a:lnTo>
                  <a:lnTo>
                    <a:pt x="6176645" y="29591"/>
                  </a:lnTo>
                  <a:lnTo>
                    <a:pt x="0" y="295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18287" y="9100833"/>
            <a:ext cx="4632512" cy="35042"/>
            <a:chOff x="0" y="0"/>
            <a:chExt cx="6176683" cy="467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76645" cy="46736"/>
            </a:xfrm>
            <a:custGeom>
              <a:avLst/>
              <a:gdLst/>
              <a:ahLst/>
              <a:cxnLst/>
              <a:rect r="r" b="b" t="t" l="l"/>
              <a:pathLst>
                <a:path h="46736" w="6176645">
                  <a:moveTo>
                    <a:pt x="0" y="0"/>
                  </a:moveTo>
                  <a:lnTo>
                    <a:pt x="6176645" y="0"/>
                  </a:lnTo>
                  <a:lnTo>
                    <a:pt x="6176645" y="46736"/>
                  </a:lnTo>
                  <a:lnTo>
                    <a:pt x="0" y="467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69211" y="2565406"/>
            <a:ext cx="9390269" cy="5977214"/>
            <a:chOff x="0" y="0"/>
            <a:chExt cx="12520358" cy="79696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20295" cy="7969631"/>
            </a:xfrm>
            <a:custGeom>
              <a:avLst/>
              <a:gdLst/>
              <a:ahLst/>
              <a:cxnLst/>
              <a:rect r="r" b="b" t="t" l="l"/>
              <a:pathLst>
                <a:path h="7969631" w="12520295">
                  <a:moveTo>
                    <a:pt x="0" y="0"/>
                  </a:moveTo>
                  <a:lnTo>
                    <a:pt x="12520295" y="0"/>
                  </a:lnTo>
                  <a:lnTo>
                    <a:pt x="12520295" y="7969631"/>
                  </a:lnTo>
                  <a:lnTo>
                    <a:pt x="0" y="7969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" r="0" b="-17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9" y="9935594"/>
            <a:ext cx="18268169" cy="347605"/>
          </a:xfrm>
          <a:custGeom>
            <a:avLst/>
            <a:gdLst/>
            <a:ahLst/>
            <a:cxnLst/>
            <a:rect r="r" b="b" t="t" l="l"/>
            <a:pathLst>
              <a:path h="347605" w="18268169">
                <a:moveTo>
                  <a:pt x="0" y="0"/>
                </a:moveTo>
                <a:lnTo>
                  <a:pt x="18268169" y="0"/>
                </a:lnTo>
                <a:lnTo>
                  <a:pt x="18268169" y="347606"/>
                </a:lnTo>
                <a:lnTo>
                  <a:pt x="0" y="34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2548" y="164630"/>
            <a:ext cx="7604627" cy="83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spc="-2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Complete Numerical: The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9398" y="1348330"/>
            <a:ext cx="9090860" cy="6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people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height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weight,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8409" y="1348330"/>
            <a:ext cx="821817" cy="6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8540" y="1348330"/>
            <a:ext cx="311220" cy="6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-2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8287" y="2196465"/>
            <a:ext cx="1242632" cy="681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Person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P1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P2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P3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P4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P5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P6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P7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P8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P9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P10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P11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P12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22231" y="2196465"/>
            <a:ext cx="1231335" cy="681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Height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185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170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168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179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182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188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183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177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15106" y="2196465"/>
            <a:ext cx="1218733" cy="681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Weight 72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56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60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68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72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77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71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70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84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88</a:t>
            </a:r>
          </a:p>
          <a:p>
            <a:pPr algn="ctr">
              <a:lnSpc>
                <a:spcPts val="5580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67</a:t>
            </a:r>
          </a:p>
          <a:p>
            <a:pPr algn="ctr">
              <a:lnSpc>
                <a:spcPts val="2002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6827" y="9098261"/>
            <a:ext cx="6006789" cy="59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P1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(185,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72)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79475" y="9201093"/>
            <a:ext cx="989171" cy="66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{P1},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28043" y="9098261"/>
            <a:ext cx="5711342" cy="59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P2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(170,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56)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3158" spc="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61026" y="9201093"/>
            <a:ext cx="989171" cy="66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3158" spc="8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{P2}.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9426" y="9093003"/>
            <a:ext cx="935555" cy="59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3158" spc="12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9398" y="9918906"/>
            <a:ext cx="2825991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 Lecture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57568" y="9918906"/>
            <a:ext cx="971960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5" action="ppaction://hlinksldjump"/>
              </a:rPr>
              <a:t>K-Means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457096" y="9918906"/>
            <a:ext cx="608867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18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6/13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6936" y="66951"/>
            <a:ext cx="15495460" cy="8304086"/>
            <a:chOff x="0" y="0"/>
            <a:chExt cx="20660614" cy="11072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0613" cy="11072114"/>
            </a:xfrm>
            <a:custGeom>
              <a:avLst/>
              <a:gdLst/>
              <a:ahLst/>
              <a:cxnLst/>
              <a:rect r="r" b="b" t="t" l="l"/>
              <a:pathLst>
                <a:path h="11072114" w="20660613">
                  <a:moveTo>
                    <a:pt x="0" y="0"/>
                  </a:moveTo>
                  <a:lnTo>
                    <a:pt x="20660613" y="0"/>
                  </a:lnTo>
                  <a:lnTo>
                    <a:pt x="20660613" y="11072114"/>
                  </a:lnTo>
                  <a:lnTo>
                    <a:pt x="0" y="11072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9" r="0" b="-5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5624" y="393182"/>
            <a:ext cx="15987512" cy="8533590"/>
            <a:chOff x="0" y="0"/>
            <a:chExt cx="21316683" cy="1137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16696" cy="11378184"/>
            </a:xfrm>
            <a:custGeom>
              <a:avLst/>
              <a:gdLst/>
              <a:ahLst/>
              <a:cxnLst/>
              <a:rect r="r" b="b" t="t" l="l"/>
              <a:pathLst>
                <a:path h="11378184" w="21316696">
                  <a:moveTo>
                    <a:pt x="0" y="0"/>
                  </a:moveTo>
                  <a:lnTo>
                    <a:pt x="21316696" y="0"/>
                  </a:lnTo>
                  <a:lnTo>
                    <a:pt x="21316696" y="11378184"/>
                  </a:lnTo>
                  <a:lnTo>
                    <a:pt x="0" y="11378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" r="0" b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3394" y="258432"/>
            <a:ext cx="16148409" cy="8842134"/>
            <a:chOff x="0" y="0"/>
            <a:chExt cx="21531212" cy="117895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31199" cy="11789537"/>
            </a:xfrm>
            <a:custGeom>
              <a:avLst/>
              <a:gdLst/>
              <a:ahLst/>
              <a:cxnLst/>
              <a:rect r="r" b="b" t="t" l="l"/>
              <a:pathLst>
                <a:path h="11789537" w="21531199">
                  <a:moveTo>
                    <a:pt x="0" y="0"/>
                  </a:moveTo>
                  <a:lnTo>
                    <a:pt x="21531199" y="0"/>
                  </a:lnTo>
                  <a:lnTo>
                    <a:pt x="21531199" y="11789537"/>
                  </a:lnTo>
                  <a:lnTo>
                    <a:pt x="0" y="11789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0772" y="455514"/>
            <a:ext cx="15597826" cy="8674618"/>
            <a:chOff x="0" y="0"/>
            <a:chExt cx="20797101" cy="11566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97138" cy="11566144"/>
            </a:xfrm>
            <a:custGeom>
              <a:avLst/>
              <a:gdLst/>
              <a:ahLst/>
              <a:cxnLst/>
              <a:rect r="r" b="b" t="t" l="l"/>
              <a:pathLst>
                <a:path h="11566144" w="20797138">
                  <a:moveTo>
                    <a:pt x="0" y="0"/>
                  </a:moveTo>
                  <a:lnTo>
                    <a:pt x="20797138" y="0"/>
                  </a:lnTo>
                  <a:lnTo>
                    <a:pt x="20797138" y="11566144"/>
                  </a:lnTo>
                  <a:lnTo>
                    <a:pt x="0" y="1156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683" y="-25422"/>
            <a:ext cx="16962434" cy="9511236"/>
            <a:chOff x="0" y="0"/>
            <a:chExt cx="22616579" cy="12681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16540" cy="12681712"/>
            </a:xfrm>
            <a:custGeom>
              <a:avLst/>
              <a:gdLst/>
              <a:ahLst/>
              <a:cxnLst/>
              <a:rect r="r" b="b" t="t" l="l"/>
              <a:pathLst>
                <a:path h="12681712" w="22616540">
                  <a:moveTo>
                    <a:pt x="0" y="0"/>
                  </a:moveTo>
                  <a:lnTo>
                    <a:pt x="22616540" y="0"/>
                  </a:lnTo>
                  <a:lnTo>
                    <a:pt x="22616540" y="12681712"/>
                  </a:lnTo>
                  <a:lnTo>
                    <a:pt x="0" y="12681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0"/>
            <a:ext cx="18268188" cy="1110482"/>
            <a:chOff x="0" y="0"/>
            <a:chExt cx="24357584" cy="1480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57585" cy="1480693"/>
            </a:xfrm>
            <a:custGeom>
              <a:avLst/>
              <a:gdLst/>
              <a:ahLst/>
              <a:cxnLst/>
              <a:rect r="r" b="b" t="t" l="l"/>
              <a:pathLst>
                <a:path h="1480693" w="24357585">
                  <a:moveTo>
                    <a:pt x="0" y="0"/>
                  </a:moveTo>
                  <a:lnTo>
                    <a:pt x="0" y="1480693"/>
                  </a:lnTo>
                  <a:lnTo>
                    <a:pt x="24357585" y="1480693"/>
                  </a:lnTo>
                  <a:lnTo>
                    <a:pt x="24357585" y="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272" y="2182501"/>
            <a:ext cx="18327091" cy="7371074"/>
            <a:chOff x="0" y="0"/>
            <a:chExt cx="24436121" cy="98280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36070" cy="9828149"/>
            </a:xfrm>
            <a:custGeom>
              <a:avLst/>
              <a:gdLst/>
              <a:ahLst/>
              <a:cxnLst/>
              <a:rect r="r" b="b" t="t" l="l"/>
              <a:pathLst>
                <a:path h="9828149" w="24436070">
                  <a:moveTo>
                    <a:pt x="0" y="0"/>
                  </a:moveTo>
                  <a:lnTo>
                    <a:pt x="24436070" y="0"/>
                  </a:lnTo>
                  <a:lnTo>
                    <a:pt x="24436070" y="9828149"/>
                  </a:lnTo>
                  <a:lnTo>
                    <a:pt x="0" y="9828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4" r="0" b="-3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714681"/>
            <a:ext cx="18689603" cy="805682"/>
            <a:chOff x="0" y="0"/>
            <a:chExt cx="24919470" cy="10742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19432" cy="1074293"/>
            </a:xfrm>
            <a:custGeom>
              <a:avLst/>
              <a:gdLst/>
              <a:ahLst/>
              <a:cxnLst/>
              <a:rect r="r" b="b" t="t" l="l"/>
              <a:pathLst>
                <a:path h="1074293" w="24919432">
                  <a:moveTo>
                    <a:pt x="0" y="0"/>
                  </a:moveTo>
                  <a:lnTo>
                    <a:pt x="24919432" y="0"/>
                  </a:lnTo>
                  <a:lnTo>
                    <a:pt x="24919432" y="1074293"/>
                  </a:lnTo>
                  <a:lnTo>
                    <a:pt x="0" y="1074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0" r="-46" b="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2548" y="164630"/>
            <a:ext cx="7449588" cy="83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spc="-2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Advantages and Disadvantages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4828" y="2288210"/>
            <a:ext cx="2303917" cy="70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7"/>
              </a:lnSpc>
            </a:pPr>
            <a:r>
              <a:rPr lang="en-US" sz="3790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Advantages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398" y="7395210"/>
            <a:ext cx="17737379" cy="178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sz="3790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Tip for choosing K</a:t>
            </a:r>
          </a:p>
          <a:p>
            <a:pPr algn="l">
              <a:lnSpc>
                <a:spcPts val="429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several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values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elbow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plot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total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distance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pick 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where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curve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bends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like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elbow.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6584" y="2288210"/>
            <a:ext cx="2859738" cy="70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7"/>
              </a:lnSpc>
            </a:pPr>
            <a:r>
              <a:rPr lang="en-US" sz="3790" spc="-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Disadvantages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2210" y="2843098"/>
            <a:ext cx="348615" cy="276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5"/>
              </a:lnSpc>
            </a:pPr>
            <a:r>
              <a:rPr lang="en-US" sz="3459" spc="612">
                <a:solidFill>
                  <a:srgbClr val="008000"/>
                </a:solidFill>
                <a:latin typeface="Montserrat"/>
                <a:ea typeface="Montserrat"/>
                <a:cs typeface="Montserrat"/>
                <a:sym typeface="Montserrat"/>
              </a:rPr>
              <a:t>▶ ▶ ▶ ▶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3957" y="2943711"/>
            <a:ext cx="348615" cy="6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61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3957" y="4079386"/>
            <a:ext cx="348615" cy="209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5"/>
              </a:lnSpc>
            </a:pPr>
            <a:r>
              <a:rPr lang="en-US" sz="3459" spc="61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▶ ▶ ▶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3680" y="2925185"/>
            <a:ext cx="7479954" cy="325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implement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explain Scales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huge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runs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fast Adapts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easily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examples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arrive Works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shapes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sizes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</a:p>
          <a:p>
            <a:pPr algn="l">
              <a:lnSpc>
                <a:spcPts val="3348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75399" y="3140088"/>
            <a:ext cx="7559097" cy="36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Sensitive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outliers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(they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drag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centroid)</a:t>
            </a:r>
          </a:p>
          <a:p>
            <a:pPr algn="l">
              <a:lnSpc>
                <a:spcPts val="6193"/>
              </a:lnSpc>
            </a:pP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Choosing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manually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tough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job</a:t>
            </a:r>
          </a:p>
          <a:p>
            <a:pPr algn="l">
              <a:lnSpc>
                <a:spcPts val="429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starting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centroids</a:t>
            </a:r>
          </a:p>
          <a:p>
            <a:pPr algn="l">
              <a:lnSpc>
                <a:spcPts val="6193"/>
              </a:lnSpc>
            </a:pP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Struggles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when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dimensions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become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very</a:t>
            </a:r>
          </a:p>
          <a:p>
            <a:pPr algn="l">
              <a:lnSpc>
                <a:spcPts val="2401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9369" y="9918906"/>
            <a:ext cx="2825991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 Lecture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57539" y="9918906"/>
            <a:ext cx="971960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4" action="ppaction://hlinksldjump"/>
              </a:rPr>
              <a:t>K-Means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29156" y="9918906"/>
            <a:ext cx="739340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12 / 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3346" y="2263073"/>
            <a:ext cx="805682" cy="1490224"/>
            <a:chOff x="0" y="0"/>
            <a:chExt cx="1074242" cy="1986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4293" cy="1986915"/>
            </a:xfrm>
            <a:custGeom>
              <a:avLst/>
              <a:gdLst/>
              <a:ahLst/>
              <a:cxnLst/>
              <a:rect r="r" b="b" t="t" l="l"/>
              <a:pathLst>
                <a:path h="1986915" w="1074293">
                  <a:moveTo>
                    <a:pt x="0" y="0"/>
                  </a:moveTo>
                  <a:lnTo>
                    <a:pt x="1074293" y="0"/>
                  </a:lnTo>
                  <a:lnTo>
                    <a:pt x="1074293" y="1986915"/>
                  </a:lnTo>
                  <a:lnTo>
                    <a:pt x="0" y="198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85" r="4" b="-6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4752" y="4357573"/>
            <a:ext cx="402688" cy="402688"/>
            <a:chOff x="0" y="0"/>
            <a:chExt cx="536918" cy="5369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956" cy="536956"/>
            </a:xfrm>
            <a:custGeom>
              <a:avLst/>
              <a:gdLst/>
              <a:ahLst/>
              <a:cxnLst/>
              <a:rect r="r" b="b" t="t" l="l"/>
              <a:pathLst>
                <a:path h="536956" w="536956">
                  <a:moveTo>
                    <a:pt x="0" y="0"/>
                  </a:moveTo>
                  <a:lnTo>
                    <a:pt x="536956" y="0"/>
                  </a:lnTo>
                  <a:lnTo>
                    <a:pt x="536956" y="536956"/>
                  </a:lnTo>
                  <a:lnTo>
                    <a:pt x="0" y="536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84752" y="5565943"/>
            <a:ext cx="402688" cy="402688"/>
            <a:chOff x="0" y="0"/>
            <a:chExt cx="536918" cy="536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956" cy="536956"/>
            </a:xfrm>
            <a:custGeom>
              <a:avLst/>
              <a:gdLst/>
              <a:ahLst/>
              <a:cxnLst/>
              <a:rect r="r" b="b" t="t" l="l"/>
              <a:pathLst>
                <a:path h="536956" w="536956">
                  <a:moveTo>
                    <a:pt x="0" y="0"/>
                  </a:moveTo>
                  <a:lnTo>
                    <a:pt x="536956" y="0"/>
                  </a:lnTo>
                  <a:lnTo>
                    <a:pt x="536956" y="536956"/>
                  </a:lnTo>
                  <a:lnTo>
                    <a:pt x="0" y="536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7" b="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4752" y="7338241"/>
            <a:ext cx="402688" cy="402688"/>
            <a:chOff x="0" y="0"/>
            <a:chExt cx="536918" cy="536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956" cy="536956"/>
            </a:xfrm>
            <a:custGeom>
              <a:avLst/>
              <a:gdLst/>
              <a:ahLst/>
              <a:cxnLst/>
              <a:rect r="r" b="b" t="t" l="l"/>
              <a:pathLst>
                <a:path h="536956" w="536956">
                  <a:moveTo>
                    <a:pt x="0" y="0"/>
                  </a:moveTo>
                  <a:lnTo>
                    <a:pt x="536956" y="0"/>
                  </a:lnTo>
                  <a:lnTo>
                    <a:pt x="536956" y="536956"/>
                  </a:lnTo>
                  <a:lnTo>
                    <a:pt x="0" y="536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7" b="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7430"/>
            <a:ext cx="18268188" cy="1110482"/>
            <a:chOff x="0" y="0"/>
            <a:chExt cx="24357584" cy="14806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57585" cy="1480693"/>
            </a:xfrm>
            <a:custGeom>
              <a:avLst/>
              <a:gdLst/>
              <a:ahLst/>
              <a:cxnLst/>
              <a:rect r="r" b="b" t="t" l="l"/>
              <a:pathLst>
                <a:path h="1480693" w="24357585">
                  <a:moveTo>
                    <a:pt x="0" y="0"/>
                  </a:moveTo>
                  <a:lnTo>
                    <a:pt x="0" y="1480693"/>
                  </a:lnTo>
                  <a:lnTo>
                    <a:pt x="24357585" y="1480693"/>
                  </a:lnTo>
                  <a:lnTo>
                    <a:pt x="24357585" y="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9714681"/>
            <a:ext cx="18689603" cy="805682"/>
            <a:chOff x="0" y="0"/>
            <a:chExt cx="24919470" cy="10742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919432" cy="1074293"/>
            </a:xfrm>
            <a:custGeom>
              <a:avLst/>
              <a:gdLst/>
              <a:ahLst/>
              <a:cxnLst/>
              <a:rect r="r" b="b" t="t" l="l"/>
              <a:pathLst>
                <a:path h="1074293" w="24919432">
                  <a:moveTo>
                    <a:pt x="0" y="0"/>
                  </a:moveTo>
                  <a:lnTo>
                    <a:pt x="24919432" y="0"/>
                  </a:lnTo>
                  <a:lnTo>
                    <a:pt x="24919432" y="1074293"/>
                  </a:lnTo>
                  <a:lnTo>
                    <a:pt x="0" y="1074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6" t="0" r="-46" b="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42548" y="164630"/>
            <a:ext cx="2249957" cy="83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spc="-2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Summary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9248" y="2481253"/>
            <a:ext cx="130473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9248" y="3147365"/>
            <a:ext cx="130473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9248" y="4359240"/>
            <a:ext cx="130473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9248" y="5571182"/>
            <a:ext cx="130473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9248" y="7328792"/>
            <a:ext cx="130473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9369" y="9918906"/>
            <a:ext cx="2825991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 Lecture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57539" y="9918906"/>
            <a:ext cx="971960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K-Means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29156" y="9918906"/>
            <a:ext cx="739340" cy="33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 spc="-3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13 / 13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8212" y="2232146"/>
            <a:ext cx="16841000" cy="38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unlabeled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together,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apart.</a:t>
            </a:r>
          </a:p>
          <a:p>
            <a:pPr algn="l">
              <a:lnSpc>
                <a:spcPts val="5245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K-means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centroid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based: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every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belongs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nearest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centroid,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goal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</a:p>
          <a:p>
            <a:pPr algn="l">
              <a:lnSpc>
                <a:spcPts val="3348"/>
              </a:lnSpc>
            </a:pP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minimize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centroid</a:t>
            </a:r>
            <a:r>
              <a:rPr lang="en-US" sz="3459" spc="1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distances.</a:t>
            </a:r>
          </a:p>
          <a:p>
            <a:pPr algn="l">
              <a:lnSpc>
                <a:spcPts val="7141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recipe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distance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distance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take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MINIMUM,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assign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</a:p>
          <a:p>
            <a:pPr algn="l">
              <a:lnSpc>
                <a:spcPts val="1729"/>
              </a:lnSpc>
            </a:pP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group,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update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centroid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mean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3459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points.</a:t>
            </a:r>
          </a:p>
          <a:p>
            <a:pPr algn="l">
              <a:lnSpc>
                <a:spcPts val="864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numerical: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starting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(185,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72)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(170,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56),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only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P3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joined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K2,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8212" y="6058310"/>
            <a:ext cx="16093354" cy="228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everyone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else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joined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K1.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Final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clusters: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K1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</a:p>
          <a:p>
            <a:pPr algn="l">
              <a:lnSpc>
                <a:spcPts val="4297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centroids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(181.4,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74.5)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(169,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58).</a:t>
            </a:r>
          </a:p>
          <a:p>
            <a:pPr algn="l">
              <a:lnSpc>
                <a:spcPts val="6193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products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everywhere: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customer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segments,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taste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groups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streaming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apps,</a:t>
            </a:r>
          </a:p>
          <a:p>
            <a:pPr algn="l">
              <a:lnSpc>
                <a:spcPts val="2401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compression,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ride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sharing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zones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fraud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detection.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20780" y="6056605"/>
            <a:ext cx="8027641" cy="71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{1,4,5,6,7,8,9,10,11,12},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K2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{2,3},</a:t>
            </a:r>
            <a:r>
              <a:rPr lang="en-US" sz="3459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59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DAHRuHTw3LM</dc:identifier>
  <dcterms:modified xsi:type="dcterms:W3CDTF">2011-08-01T06:04:30Z</dcterms:modified>
  <cp:revision>1</cp:revision>
</cp:coreProperties>
</file>